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  <p:sldId id="271" r:id="rId15"/>
    <p:sldId id="272" r:id="rId16"/>
    <p:sldId id="268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F:\OneDrive\Desktop\Newton%20MS%20Excel%20%20Aug%202025\01.%20Spreadsheet\SpreadSheet%20Project%20updated\IT%20Tickets%20Analysis%20updated.xlsm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F:\OneDrive\Desktop\Newton%20MS%20Excel%20%20Aug%202025\01.%20Spreadsheet\SpreadSheet%20Project%20updated\IT%20Tickets%20Analysis%20updated.xlsm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F:\OneDrive\Desktop\Newton%20MS%20Excel%20%20Aug%202025\01.%20Spreadsheet\SpreadSheet%20Project%20updated\IT%20Tickets%20Analysis%20updated.xlsm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mra\Desktop\Newton%20MS%20Excel%20%20Aug%202025\01.%20Spreadsheet\SpreadSheet%20Project%20updated-20251002T014414Z-1-001\SpreadSheet%20Project%20updated\IT%20Tickets%20Analysis%20updated%202.xlsm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F:\OneDrive\Desktop\Newton%20MS%20Excel%20%20Aug%202025\01.%20Spreadsheet\SpreadSheet%20Project%20updated\IT%20Tickets%20Analysis%20updated.xlsm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F:\OneDrive\Desktop\Newton%20MS%20Excel%20%20Aug%202025\01.%20Spreadsheet\SpreadSheet%20Project%20updated\IT%20Tickets%20Analysis%20updated.xlsm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F:\OneDrive\Desktop\Newton%20MS%20Excel%20%20Aug%202025\01.%20Spreadsheet\SpreadSheet%20Project%20updated\IT%20Tickets%20Analysis%20updated.xlsm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imra\Desktop\Newton%20MS%20Excel%20%20Aug%202025\01.%20Spreadsheet\SpreadSheet%20Project%20updated-20250927T153357Z-1-001\SpreadSheet%20Project%20updated\IT%20Tickets%20Analysis%20updated%202.xlsm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F:\OneDrive\Desktop\Newton%20MS%20Excel%20%20Aug%202025\01.%20Spreadsheet\SpreadSheet%20Project%20updated\IT%20Tickets%20Analysis%20updated.xlsm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updated.xlsm]Pivots!PivotTable1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IN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rPr>
              <a:t>Count of ticket IDs by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348381452318461"/>
          <c:y val="0.13004629629629633"/>
          <c:w val="0.80596062992125983"/>
          <c:h val="0.66438283756197136"/>
        </c:manualLayout>
      </c:layout>
      <c:lineChart>
        <c:grouping val="standard"/>
        <c:varyColors val="0"/>
        <c:ser>
          <c:idx val="0"/>
          <c:order val="0"/>
          <c:tx>
            <c:strRef>
              <c:f>Pivots!$B$1</c:f>
              <c:strCache>
                <c:ptCount val="1"/>
                <c:pt idx="0">
                  <c:v>Total</c:v>
                </c:pt>
              </c:strCache>
            </c:strRef>
          </c:tx>
          <c:spPr>
            <a:ln w="476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1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Pivots!$A$2:$A$6</c:f>
              <c:strCache>
                <c:ptCount val="5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</c:strCache>
            </c:strRef>
          </c:cat>
          <c:val>
            <c:numRef>
              <c:f>Pivots!$B$2:$B$6</c:f>
              <c:numCache>
                <c:formatCode>0</c:formatCode>
                <c:ptCount val="5"/>
                <c:pt idx="0">
                  <c:v>13051</c:v>
                </c:pt>
                <c:pt idx="1">
                  <c:v>14915</c:v>
                </c:pt>
                <c:pt idx="2">
                  <c:v>18954</c:v>
                </c:pt>
                <c:pt idx="3">
                  <c:v>21490</c:v>
                </c:pt>
                <c:pt idx="4">
                  <c:v>29088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45-4F22-9BFC-3EC1814B7B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1663359"/>
        <c:axId val="661661439"/>
      </c:lineChart>
      <c:catAx>
        <c:axId val="6616633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Resolution Time</a:t>
                </a:r>
              </a:p>
            </c:rich>
          </c:tx>
          <c:layout>
            <c:manualLayout>
              <c:xMode val="edge"/>
              <c:yMode val="edge"/>
              <c:x val="0.38075568678915128"/>
              <c:y val="0.887939632545931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661661439"/>
        <c:crosses val="autoZero"/>
        <c:auto val="1"/>
        <c:lblAlgn val="ctr"/>
        <c:lblOffset val="100"/>
        <c:noMultiLvlLbl val="0"/>
      </c:catAx>
      <c:valAx>
        <c:axId val="66166143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Count of ticket IDs</a:t>
                </a:r>
              </a:p>
            </c:rich>
          </c:tx>
          <c:layout>
            <c:manualLayout>
              <c:xMode val="edge"/>
              <c:yMode val="edge"/>
              <c:x val="2.2222265076535928E-2"/>
              <c:y val="0.2065504249033099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00" b="1" i="0" u="none" strike="noStrike" kern="1200" baseline="0">
                <a:solidFill>
                  <a:schemeClr val="bg1">
                    <a:lumMod val="5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6616633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 cap="flat" cmpd="sng" algn="ctr">
      <a:solidFill>
        <a:srgbClr val="00B0F0"/>
      </a:solidFill>
      <a:round/>
    </a:ln>
    <a:effectLst/>
  </c:spPr>
  <c:txPr>
    <a:bodyPr/>
    <a:lstStyle/>
    <a:p>
      <a:pPr algn="ctr">
        <a:defRPr lang="en-US" sz="1100" b="1" i="0" u="none" strike="noStrike" kern="1200" baseline="0">
          <a:solidFill>
            <a:schemeClr val="bg1">
              <a:lumMod val="50000"/>
            </a:schemeClr>
          </a:solidFill>
          <a:latin typeface="Adobe Fan Heiti Std B" panose="020B0700000000000000" pitchFamily="34" charset="-128"/>
          <a:ea typeface="Adobe Fan Heiti Std B" panose="020B0700000000000000" pitchFamily="34" charset="-128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updated.xlsm]Pivots!PivotTable6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US" sz="1400" b="1" i="0" u="none" strike="noStrike" kern="1200" spc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rPr>
              <a:t>Satisfaction rate by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9402887139107611E-2"/>
          <c:y val="0.15060185185185185"/>
          <c:w val="0.90004155730533686"/>
          <c:h val="0.658070501603966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Pivots!$V$1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dobe Gothic Std B" panose="020B0800000000000000" pitchFamily="34" charset="-128"/>
                    <a:ea typeface="Adobe Gothic Std B" panose="020B08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Pivots!$U$2:$U$23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strCache>
            </c:strRef>
          </c:cat>
          <c:val>
            <c:numRef>
              <c:f>Pivots!$V$2:$V$23</c:f>
              <c:numCache>
                <c:formatCode>0</c:formatCode>
                <c:ptCount val="22"/>
                <c:pt idx="0">
                  <c:v>103016</c:v>
                </c:pt>
                <c:pt idx="1">
                  <c:v>37698</c:v>
                </c:pt>
                <c:pt idx="2">
                  <c:v>26403</c:v>
                </c:pt>
                <c:pt idx="3">
                  <c:v>25552</c:v>
                </c:pt>
                <c:pt idx="4">
                  <c:v>20206</c:v>
                </c:pt>
                <c:pt idx="5">
                  <c:v>36239</c:v>
                </c:pt>
                <c:pt idx="6">
                  <c:v>32115</c:v>
                </c:pt>
                <c:pt idx="7">
                  <c:v>27015</c:v>
                </c:pt>
                <c:pt idx="8">
                  <c:v>19773</c:v>
                </c:pt>
                <c:pt idx="9">
                  <c:v>15362</c:v>
                </c:pt>
                <c:pt idx="10">
                  <c:v>16002</c:v>
                </c:pt>
                <c:pt idx="11">
                  <c:v>7154</c:v>
                </c:pt>
                <c:pt idx="12">
                  <c:v>6331</c:v>
                </c:pt>
                <c:pt idx="13">
                  <c:v>6906</c:v>
                </c:pt>
                <c:pt idx="14">
                  <c:v>6343</c:v>
                </c:pt>
                <c:pt idx="15">
                  <c:v>5618</c:v>
                </c:pt>
                <c:pt idx="16">
                  <c:v>4777</c:v>
                </c:pt>
                <c:pt idx="17">
                  <c:v>2249</c:v>
                </c:pt>
                <c:pt idx="18">
                  <c:v>503</c:v>
                </c:pt>
                <c:pt idx="19">
                  <c:v>529</c:v>
                </c:pt>
                <c:pt idx="20">
                  <c:v>8</c:v>
                </c:pt>
                <c:pt idx="21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10-4C4E-801D-5B1A9F5213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90"/>
        <c:axId val="708627039"/>
        <c:axId val="708627519"/>
      </c:barChart>
      <c:catAx>
        <c:axId val="708627039"/>
        <c:scaling>
          <c:orientation val="minMax"/>
        </c:scaling>
        <c:delete val="0"/>
        <c:axPos val="b"/>
        <c:majorGridlines>
          <c:spPr>
            <a:ln w="222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cap="all" baseline="0">
                    <a:solidFill>
                      <a:schemeClr val="bg1">
                        <a:lumMod val="50000"/>
                      </a:schemeClr>
                    </a:solidFill>
                    <a:latin typeface="Adobe Gothic Std B" panose="020B0800000000000000" pitchFamily="34" charset="-128"/>
                    <a:ea typeface="Adobe Gothic Std B" panose="020B0800000000000000" pitchFamily="34" charset="-128"/>
                    <a:cs typeface="+mn-cs"/>
                  </a:defRPr>
                </a:pPr>
                <a:r>
                  <a:rPr lang="en-IN" sz="1200" b="1">
                    <a:solidFill>
                      <a:schemeClr val="bg1">
                        <a:lumMod val="50000"/>
                      </a:schemeClr>
                    </a:solidFill>
                    <a:latin typeface="Adobe Gothic Std B" panose="020B0800000000000000" pitchFamily="34" charset="-128"/>
                    <a:ea typeface="Adobe Gothic Std B" panose="020B0800000000000000" pitchFamily="34" charset="-128"/>
                  </a:rPr>
                  <a:t>Resolution Time</a:t>
                </a:r>
              </a:p>
            </c:rich>
          </c:tx>
          <c:layout>
            <c:manualLayout>
              <c:xMode val="edge"/>
              <c:yMode val="edge"/>
              <c:x val="0.46441673255302901"/>
              <c:y val="0.8888158771328008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cap="all" baseline="0">
                  <a:solidFill>
                    <a:schemeClr val="bg1">
                      <a:lumMod val="50000"/>
                    </a:schemeClr>
                  </a:solidFill>
                  <a:latin typeface="Adobe Gothic Std B" panose="020B0800000000000000" pitchFamily="34" charset="-128"/>
                  <a:ea typeface="Adobe Gothic Std B" panose="020B0800000000000000" pitchFamily="34" charset="-128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cap="all" spc="120" normalizeH="0" baseline="0">
                <a:solidFill>
                  <a:schemeClr val="bg1">
                    <a:lumMod val="50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  <a:cs typeface="+mn-cs"/>
              </a:defRPr>
            </a:pPr>
            <a:endParaRPr lang="en-US"/>
          </a:p>
        </c:txPr>
        <c:crossAx val="708627519"/>
        <c:crosses val="autoZero"/>
        <c:auto val="1"/>
        <c:lblAlgn val="ctr"/>
        <c:lblOffset val="100"/>
        <c:noMultiLvlLbl val="0"/>
      </c:catAx>
      <c:valAx>
        <c:axId val="70862751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Sum Of Satisfaction Rate</a:t>
                </a:r>
              </a:p>
            </c:rich>
          </c:tx>
          <c:layout>
            <c:manualLayout>
              <c:xMode val="edge"/>
              <c:yMode val="edge"/>
              <c:x val="2.1311891702964821E-2"/>
              <c:y val="0.172320066251272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708627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 cap="flat" cmpd="sng" algn="ctr">
      <a:solidFill>
        <a:srgbClr val="00B0F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updated.xlsm]Pivots!PivotTable9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rPr>
              <a:t> Ticket by priority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1"/>
          <c:showVal val="1"/>
          <c:showCatName val="1"/>
          <c:showSerName val="1"/>
          <c:showPercent val="1"/>
          <c:showBubbleSize val="1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151243712039367E-2"/>
          <c:y val="0.25971319797314457"/>
          <c:w val="0.87447632233517369"/>
          <c:h val="0.466781934253487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Pivots!$AG$2:$AG$3</c:f>
              <c:strCache>
                <c:ptCount val="1"/>
                <c:pt idx="0">
                  <c:v>3 - High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Pivots!$AF$4:$AF$8</c:f>
              <c:strCache>
                <c:ptCount val="5"/>
                <c:pt idx="0">
                  <c:v>4 - Urgent</c:v>
                </c:pt>
                <c:pt idx="1">
                  <c:v>3 - Major</c:v>
                </c:pt>
                <c:pt idx="2">
                  <c:v>2 - Normal</c:v>
                </c:pt>
                <c:pt idx="3">
                  <c:v>1 - Minor</c:v>
                </c:pt>
                <c:pt idx="4">
                  <c:v>0 -  Unclassified</c:v>
                </c:pt>
              </c:strCache>
            </c:strRef>
          </c:cat>
          <c:val>
            <c:numRef>
              <c:f>Pivots!$AG$4:$AG$8</c:f>
              <c:numCache>
                <c:formatCode>0</c:formatCode>
                <c:ptCount val="5"/>
                <c:pt idx="0">
                  <c:v>612</c:v>
                </c:pt>
                <c:pt idx="1">
                  <c:v>2075</c:v>
                </c:pt>
                <c:pt idx="2">
                  <c:v>32080</c:v>
                </c:pt>
                <c:pt idx="3">
                  <c:v>676</c:v>
                </c:pt>
                <c:pt idx="4">
                  <c:v>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59-460A-ACE1-83161CD2574E}"/>
            </c:ext>
          </c:extLst>
        </c:ser>
        <c:ser>
          <c:idx val="1"/>
          <c:order val="1"/>
          <c:tx>
            <c:strRef>
              <c:f>Pivots!$AH$2:$AH$3</c:f>
              <c:strCache>
                <c:ptCount val="1"/>
                <c:pt idx="0">
                  <c:v>1 - 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Pivots!$AF$4:$AF$8</c:f>
              <c:strCache>
                <c:ptCount val="5"/>
                <c:pt idx="0">
                  <c:v>4 - Urgent</c:v>
                </c:pt>
                <c:pt idx="1">
                  <c:v>3 - Major</c:v>
                </c:pt>
                <c:pt idx="2">
                  <c:v>2 - Normal</c:v>
                </c:pt>
                <c:pt idx="3">
                  <c:v>1 - Minor</c:v>
                </c:pt>
                <c:pt idx="4">
                  <c:v>0 -  Unclassified</c:v>
                </c:pt>
              </c:strCache>
            </c:strRef>
          </c:cat>
          <c:val>
            <c:numRef>
              <c:f>Pivots!$AH$4:$AH$8</c:f>
              <c:numCache>
                <c:formatCode>0</c:formatCode>
                <c:ptCount val="5"/>
                <c:pt idx="0">
                  <c:v>169</c:v>
                </c:pt>
                <c:pt idx="1">
                  <c:v>614</c:v>
                </c:pt>
                <c:pt idx="2">
                  <c:v>15282</c:v>
                </c:pt>
                <c:pt idx="3">
                  <c:v>549</c:v>
                </c:pt>
                <c:pt idx="4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359-460A-ACE1-83161CD2574E}"/>
            </c:ext>
          </c:extLst>
        </c:ser>
        <c:ser>
          <c:idx val="2"/>
          <c:order val="2"/>
          <c:tx>
            <c:strRef>
              <c:f>Pivots!$AI$2:$AI$3</c:f>
              <c:strCache>
                <c:ptCount val="1"/>
                <c:pt idx="0">
                  <c:v>0 -  Unassigned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Pivots!$AF$4:$AF$8</c:f>
              <c:strCache>
                <c:ptCount val="5"/>
                <c:pt idx="0">
                  <c:v>4 - Urgent</c:v>
                </c:pt>
                <c:pt idx="1">
                  <c:v>3 - Major</c:v>
                </c:pt>
                <c:pt idx="2">
                  <c:v>2 - Normal</c:v>
                </c:pt>
                <c:pt idx="3">
                  <c:v>1 - Minor</c:v>
                </c:pt>
                <c:pt idx="4">
                  <c:v>0 -  Unclassified</c:v>
                </c:pt>
              </c:strCache>
            </c:strRef>
          </c:cat>
          <c:val>
            <c:numRef>
              <c:f>Pivots!$AI$4:$AI$8</c:f>
              <c:numCache>
                <c:formatCode>0</c:formatCode>
                <c:ptCount val="5"/>
                <c:pt idx="0">
                  <c:v>409</c:v>
                </c:pt>
                <c:pt idx="1">
                  <c:v>1434</c:v>
                </c:pt>
                <c:pt idx="2">
                  <c:v>26826</c:v>
                </c:pt>
                <c:pt idx="3">
                  <c:v>626</c:v>
                </c:pt>
                <c:pt idx="4">
                  <c:v>115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359-460A-ACE1-83161CD2574E}"/>
            </c:ext>
          </c:extLst>
        </c:ser>
        <c:ser>
          <c:idx val="3"/>
          <c:order val="3"/>
          <c:tx>
            <c:strRef>
              <c:f>Pivots!$AJ$2:$AJ$3</c:f>
              <c:strCache>
                <c:ptCount val="1"/>
                <c:pt idx="0">
                  <c:v> 2 - Medium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Pivots!$AF$4:$AF$8</c:f>
              <c:strCache>
                <c:ptCount val="5"/>
                <c:pt idx="0">
                  <c:v>4 - Urgent</c:v>
                </c:pt>
                <c:pt idx="1">
                  <c:v>3 - Major</c:v>
                </c:pt>
                <c:pt idx="2">
                  <c:v>2 - Normal</c:v>
                </c:pt>
                <c:pt idx="3">
                  <c:v>1 - Minor</c:v>
                </c:pt>
                <c:pt idx="4">
                  <c:v>0 -  Unclassified</c:v>
                </c:pt>
              </c:strCache>
            </c:strRef>
          </c:cat>
          <c:val>
            <c:numRef>
              <c:f>Pivots!$AJ$4:$AJ$8</c:f>
              <c:numCache>
                <c:formatCode>0</c:formatCode>
                <c:ptCount val="5"/>
                <c:pt idx="0">
                  <c:v>202</c:v>
                </c:pt>
                <c:pt idx="1">
                  <c:v>713</c:v>
                </c:pt>
                <c:pt idx="2">
                  <c:v>14468</c:v>
                </c:pt>
                <c:pt idx="3">
                  <c:v>407</c:v>
                </c:pt>
                <c:pt idx="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359-460A-ACE1-83161CD2574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-90"/>
        <c:axId val="675229840"/>
        <c:axId val="675243760"/>
      </c:barChart>
      <c:catAx>
        <c:axId val="675229840"/>
        <c:scaling>
          <c:orientation val="minMax"/>
        </c:scaling>
        <c:delete val="0"/>
        <c:axPos val="b"/>
        <c:majorGridlines>
          <c:spPr>
            <a:ln w="222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IN" sz="1400" b="1" i="0" u="none" strike="noStrike" kern="1200" cap="all" spc="0" normalizeH="0" baseline="0" dirty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400" b="1" i="0" u="none" strike="noStrike" kern="1200" cap="all" spc="0" normalizeH="0" baseline="0" dirty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Priority</a:t>
                </a:r>
              </a:p>
            </c:rich>
          </c:tx>
          <c:layout>
            <c:manualLayout>
              <c:xMode val="edge"/>
              <c:yMode val="edge"/>
              <c:x val="0.43321314134607081"/>
              <c:y val="0.8520939244365252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IN" sz="1400" b="1" i="0" u="none" strike="noStrike" kern="1200" cap="all" spc="0" normalizeH="0" baseline="0" dirty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1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675243760"/>
        <c:crosses val="autoZero"/>
        <c:auto val="1"/>
        <c:lblAlgn val="ctr"/>
        <c:lblOffset val="100"/>
        <c:noMultiLvlLbl val="0"/>
      </c:catAx>
      <c:valAx>
        <c:axId val="675243760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Count of ticket IDs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4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67522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 cap="flat" cmpd="sng" algn="ctr">
      <a:solidFill>
        <a:srgbClr val="00B0F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 2.xlsm]Pivots!PivotTable2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IN" sz="1400" b="1" i="0" u="none" strike="noStrike" kern="1200" cap="all" spc="0" normalizeH="0" baseline="0" dirty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rPr>
              <a:t>Average resolution time by request category, quarter-wise</a:t>
            </a:r>
          </a:p>
        </c:rich>
      </c:tx>
      <c:layout>
        <c:manualLayout>
          <c:xMode val="edge"/>
          <c:yMode val="edge"/>
          <c:x val="0.1182672478440195"/>
          <c:y val="2.39955183173662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800" b="0" i="0" u="none" strike="noStrike" kern="1200" cap="all" spc="120" normalizeH="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6779152605924259E-2"/>
          <c:y val="0.24096822231312387"/>
          <c:w val="0.88083317710286213"/>
          <c:h val="0.457750087809080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Pivots!$G$1:$G$2</c:f>
              <c:strCache>
                <c:ptCount val="1"/>
                <c:pt idx="0">
                  <c:v>Qtr1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1" i="0" u="none" strike="noStrike" kern="1200" cap="all" spc="0" normalizeH="0" baseline="0">
                    <a:solidFill>
                      <a:srgbClr val="0070C0"/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Pivots!$F$3:$F$6</c:f>
              <c:strCache>
                <c:ptCount val="4"/>
                <c:pt idx="0">
                  <c:v>System</c:v>
                </c:pt>
                <c:pt idx="1">
                  <c:v>Hardware</c:v>
                </c:pt>
                <c:pt idx="2">
                  <c:v>Software</c:v>
                </c:pt>
                <c:pt idx="3">
                  <c:v>Login Access</c:v>
                </c:pt>
              </c:strCache>
            </c:strRef>
          </c:cat>
          <c:val>
            <c:numRef>
              <c:f>Pivots!$G$3:$G$6</c:f>
              <c:numCache>
                <c:formatCode>0.0</c:formatCode>
                <c:ptCount val="4"/>
                <c:pt idx="0">
                  <c:v>6.56399179177017</c:v>
                </c:pt>
                <c:pt idx="1">
                  <c:v>6.4443048576214403</c:v>
                </c:pt>
                <c:pt idx="2">
                  <c:v>5.8758474576271187</c:v>
                </c:pt>
                <c:pt idx="3">
                  <c:v>0.29925756710451173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04-4A5F-BBC3-885EB4E7E8ED}"/>
            </c:ext>
          </c:extLst>
        </c:ser>
        <c:ser>
          <c:idx val="1"/>
          <c:order val="1"/>
          <c:tx>
            <c:strRef>
              <c:f>Pivots!$H$1:$H$2</c:f>
              <c:strCache>
                <c:ptCount val="1"/>
                <c:pt idx="0">
                  <c:v>Qtr2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1" i="0" u="none" strike="noStrike" kern="1200" cap="all" spc="0" normalizeH="0" baseline="0">
                    <a:solidFill>
                      <a:srgbClr val="FFC000"/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Pivots!$F$3:$F$6</c:f>
              <c:strCache>
                <c:ptCount val="4"/>
                <c:pt idx="0">
                  <c:v>System</c:v>
                </c:pt>
                <c:pt idx="1">
                  <c:v>Hardware</c:v>
                </c:pt>
                <c:pt idx="2">
                  <c:v>Software</c:v>
                </c:pt>
                <c:pt idx="3">
                  <c:v>Login Access</c:v>
                </c:pt>
              </c:strCache>
            </c:strRef>
          </c:cat>
          <c:val>
            <c:numRef>
              <c:f>Pivots!$H$3:$H$6</c:f>
              <c:numCache>
                <c:formatCode>0.0</c:formatCode>
                <c:ptCount val="4"/>
                <c:pt idx="0">
                  <c:v>6.5690204543118513</c:v>
                </c:pt>
                <c:pt idx="1">
                  <c:v>6.3399014778325125</c:v>
                </c:pt>
                <c:pt idx="2">
                  <c:v>5.6546897848339253</c:v>
                </c:pt>
                <c:pt idx="3">
                  <c:v>0.32744583965778945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04-4A5F-BBC3-885EB4E7E8ED}"/>
            </c:ext>
          </c:extLst>
        </c:ser>
        <c:ser>
          <c:idx val="2"/>
          <c:order val="2"/>
          <c:tx>
            <c:strRef>
              <c:f>Pivots!$I$1:$I$2</c:f>
              <c:strCache>
                <c:ptCount val="1"/>
                <c:pt idx="0">
                  <c:v>Qtr3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Pivots!$F$3:$F$6</c:f>
              <c:strCache>
                <c:ptCount val="4"/>
                <c:pt idx="0">
                  <c:v>System</c:v>
                </c:pt>
                <c:pt idx="1">
                  <c:v>Hardware</c:v>
                </c:pt>
                <c:pt idx="2">
                  <c:v>Software</c:v>
                </c:pt>
                <c:pt idx="3">
                  <c:v>Login Access</c:v>
                </c:pt>
              </c:strCache>
            </c:strRef>
          </c:cat>
          <c:val>
            <c:numRef>
              <c:f>Pivots!$I$3:$I$6</c:f>
              <c:numCache>
                <c:formatCode>0.0</c:formatCode>
                <c:ptCount val="4"/>
                <c:pt idx="0">
                  <c:v>6.5637408041922809</c:v>
                </c:pt>
                <c:pt idx="1">
                  <c:v>6.3322448979591837</c:v>
                </c:pt>
                <c:pt idx="2">
                  <c:v>5.8080828190324505</c:v>
                </c:pt>
                <c:pt idx="3">
                  <c:v>0.3570848008669737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04-4A5F-BBC3-885EB4E7E8ED}"/>
            </c:ext>
          </c:extLst>
        </c:ser>
        <c:ser>
          <c:idx val="3"/>
          <c:order val="3"/>
          <c:tx>
            <c:strRef>
              <c:f>Pivots!$J$1:$J$2</c:f>
              <c:strCache>
                <c:ptCount val="1"/>
                <c:pt idx="0">
                  <c:v>Qtr4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1" i="0" u="none" strike="noStrike" kern="1200" cap="all" spc="0" normalizeH="0" baseline="0"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Pivots!$F$3:$F$6</c:f>
              <c:strCache>
                <c:ptCount val="4"/>
                <c:pt idx="0">
                  <c:v>System</c:v>
                </c:pt>
                <c:pt idx="1">
                  <c:v>Hardware</c:v>
                </c:pt>
                <c:pt idx="2">
                  <c:v>Software</c:v>
                </c:pt>
                <c:pt idx="3">
                  <c:v>Login Access</c:v>
                </c:pt>
              </c:strCache>
            </c:strRef>
          </c:cat>
          <c:val>
            <c:numRef>
              <c:f>Pivots!$J$3:$J$6</c:f>
              <c:numCache>
                <c:formatCode>0.0</c:formatCode>
                <c:ptCount val="4"/>
                <c:pt idx="0">
                  <c:v>6.7488851451788721</c:v>
                </c:pt>
                <c:pt idx="1">
                  <c:v>6.1110207401382679</c:v>
                </c:pt>
                <c:pt idx="2">
                  <c:v>5.8555555555555552</c:v>
                </c:pt>
                <c:pt idx="3">
                  <c:v>0.53359788359788363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E04-4A5F-BBC3-885EB4E7E8E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691556511"/>
        <c:axId val="691573311"/>
      </c:barChart>
      <c:catAx>
        <c:axId val="6915565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IN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Request category</a:t>
                </a:r>
              </a:p>
            </c:rich>
          </c:tx>
          <c:layout>
            <c:manualLayout>
              <c:xMode val="edge"/>
              <c:yMode val="edge"/>
              <c:x val="0.36250765529308837"/>
              <c:y val="0.8021844449312439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IN" sz="14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691573311"/>
        <c:crosses val="autoZero"/>
        <c:auto val="1"/>
        <c:lblAlgn val="ctr"/>
        <c:lblOffset val="100"/>
        <c:noMultiLvlLbl val="0"/>
      </c:catAx>
      <c:valAx>
        <c:axId val="691573311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Average Resolution time</a:t>
                </a:r>
              </a:p>
            </c:rich>
          </c:tx>
          <c:layout>
            <c:manualLayout>
              <c:xMode val="edge"/>
              <c:yMode val="edge"/>
              <c:x val="1.5479940007499063E-2"/>
              <c:y val="0.151858251356518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4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IN"/>
            </a:p>
          </c:txPr>
        </c:title>
        <c:numFmt formatCode="0.0" sourceLinked="1"/>
        <c:majorTickMark val="none"/>
        <c:minorTickMark val="none"/>
        <c:tickLblPos val="nextTo"/>
        <c:crossAx val="691556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734892513435821"/>
          <c:y val="0.89353124108912307"/>
          <c:w val="0.47338051493563305"/>
          <c:h val="9.57795834776201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00B0F0"/>
      </a:solidFill>
    </a:ln>
    <a:effectLst/>
  </c:spPr>
  <c:txPr>
    <a:bodyPr/>
    <a:lstStyle/>
    <a:p>
      <a:pPr algn="ctr" rtl="0">
        <a:defRPr lang="en-US" sz="1100" b="1" i="0" u="none" strike="noStrike" kern="1200" cap="all" spc="120" normalizeH="0" baseline="0">
          <a:solidFill>
            <a:srgbClr val="000000">
              <a:lumMod val="65000"/>
              <a:lumOff val="35000"/>
            </a:srgbClr>
          </a:solidFill>
          <a:latin typeface="Akira Expanded" panose="02000800000000000000" pitchFamily="50" charset="0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updated.xlsm]Pivots!PivotTable4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IN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IN" sz="1400" b="1" i="0" u="none" strike="noStrike" kern="1200" cap="all" spc="0" normalizeH="0" baseline="0" dirty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rPr>
              <a:t> Age group by satisfaction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IN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solidFill>
              <a:srgbClr val="FFC000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solidFill>
              <a:srgbClr val="FFC000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solidFill>
              <a:srgbClr val="FFC000">
                <a:lumMod val="60000"/>
                <a:lumOff val="40000"/>
              </a:srgbClr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solidFill>
              <a:srgbClr val="FFC000">
                <a:lumMod val="60000"/>
                <a:lumOff val="40000"/>
              </a:srgbClr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22225" cap="rnd">
            <a:solidFill>
              <a:schemeClr val="accent1"/>
            </a:solidFill>
            <a:round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solidFill>
              <a:srgbClr val="FFC000">
                <a:lumMod val="60000"/>
                <a:lumOff val="40000"/>
              </a:srgbClr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lineChart>
        <c:grouping val="stacked"/>
        <c:varyColors val="0"/>
        <c:ser>
          <c:idx val="0"/>
          <c:order val="0"/>
          <c:tx>
            <c:strRef>
              <c:f>Pivots!$P$1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dLbls>
            <c:spPr>
              <a:solidFill>
                <a:srgbClr val="FFC000">
                  <a:lumMod val="60000"/>
                  <a:lumOff val="40000"/>
                </a:srgbClr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Pivots!$O$2:$O$10</c:f>
              <c:strCache>
                <c:ptCount val="9"/>
                <c:pt idx="0">
                  <c:v>29-31</c:v>
                </c:pt>
                <c:pt idx="1">
                  <c:v>32-34</c:v>
                </c:pt>
                <c:pt idx="2">
                  <c:v>35-37</c:v>
                </c:pt>
                <c:pt idx="3">
                  <c:v>38-40</c:v>
                </c:pt>
                <c:pt idx="4">
                  <c:v>41-43</c:v>
                </c:pt>
                <c:pt idx="5">
                  <c:v>44-46</c:v>
                </c:pt>
                <c:pt idx="6">
                  <c:v>47-49</c:v>
                </c:pt>
                <c:pt idx="7">
                  <c:v>50-52</c:v>
                </c:pt>
                <c:pt idx="8">
                  <c:v>53-55</c:v>
                </c:pt>
              </c:strCache>
            </c:strRef>
          </c:cat>
          <c:val>
            <c:numRef>
              <c:f>Pivots!$P$2:$P$10</c:f>
              <c:numCache>
                <c:formatCode>0.00</c:formatCode>
                <c:ptCount val="9"/>
                <c:pt idx="0">
                  <c:v>4.2128563155524095</c:v>
                </c:pt>
                <c:pt idx="1">
                  <c:v>4.2545639806402313</c:v>
                </c:pt>
                <c:pt idx="2">
                  <c:v>3.6434426229508197</c:v>
                </c:pt>
                <c:pt idx="3">
                  <c:v>4.3546427836112827</c:v>
                </c:pt>
                <c:pt idx="4">
                  <c:v>3.9432117122269243</c:v>
                </c:pt>
                <c:pt idx="5">
                  <c:v>4.0211023263750638</c:v>
                </c:pt>
                <c:pt idx="6">
                  <c:v>4.3351351351351353</c:v>
                </c:pt>
                <c:pt idx="7">
                  <c:v>3.9642811419792601</c:v>
                </c:pt>
                <c:pt idx="8">
                  <c:v>4.4147582697201022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C7F-4277-A3B3-6E563203E9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81693216"/>
        <c:axId val="1281708096"/>
      </c:lineChart>
      <c:catAx>
        <c:axId val="1281693216"/>
        <c:scaling>
          <c:orientation val="minMax"/>
        </c:scaling>
        <c:delete val="0"/>
        <c:axPos val="b"/>
        <c:majorGridlines>
          <c:spPr>
            <a:ln w="25400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Age group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1281708096"/>
        <c:crosses val="autoZero"/>
        <c:auto val="1"/>
        <c:lblAlgn val="ctr"/>
        <c:lblOffset val="100"/>
        <c:noMultiLvlLbl val="0"/>
      </c:catAx>
      <c:valAx>
        <c:axId val="1281708096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 dirty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Average Satisfaction rate</a:t>
                </a:r>
              </a:p>
            </c:rich>
          </c:tx>
          <c:layout>
            <c:manualLayout>
              <c:xMode val="edge"/>
              <c:yMode val="edge"/>
              <c:x val="1.0989617983860837E-2"/>
              <c:y val="0.13643122561657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crossAx val="12816932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 cap="flat" cmpd="sng" algn="ctr">
      <a:solidFill>
        <a:srgbClr val="00B0F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updated.xlsm]Pivots!PivotTable5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US" sz="1400" b="1" i="0" u="none" strike="noStrike" kern="1200" cap="all" spc="0" normalizeH="0" baseline="0" dirty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rPr>
              <a:t>Ticket by severity rate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50" b="1" i="0" u="none" strike="noStrike" kern="120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7975264287794899"/>
          <c:y val="0.17150961313079557"/>
          <c:w val="0.66581467931619231"/>
          <c:h val="0.7005903525625433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Pivots!$S$1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1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Pivots!$R$2:$R$6</c:f>
              <c:strCache>
                <c:ptCount val="5"/>
                <c:pt idx="0">
                  <c:v>0 -  Unclassified</c:v>
                </c:pt>
                <c:pt idx="1">
                  <c:v>4 - Urgent</c:v>
                </c:pt>
                <c:pt idx="2">
                  <c:v>1 - Minor</c:v>
                </c:pt>
                <c:pt idx="3">
                  <c:v>3 - Major</c:v>
                </c:pt>
                <c:pt idx="4">
                  <c:v>2 - Normal</c:v>
                </c:pt>
              </c:strCache>
            </c:strRef>
          </c:cat>
          <c:val>
            <c:numRef>
              <c:f>Pivots!$S$2:$S$6</c:f>
              <c:numCache>
                <c:formatCode>0</c:formatCode>
                <c:ptCount val="5"/>
                <c:pt idx="0">
                  <c:v>356</c:v>
                </c:pt>
                <c:pt idx="1">
                  <c:v>1392</c:v>
                </c:pt>
                <c:pt idx="2">
                  <c:v>2258</c:v>
                </c:pt>
                <c:pt idx="3">
                  <c:v>4836</c:v>
                </c:pt>
                <c:pt idx="4">
                  <c:v>88656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4E-45BC-9D50-CC5B907C09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291799664"/>
        <c:axId val="1291796784"/>
      </c:barChart>
      <c:catAx>
        <c:axId val="129179966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Severity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1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1291796784"/>
        <c:crosses val="autoZero"/>
        <c:auto val="1"/>
        <c:lblAlgn val="ctr"/>
        <c:lblOffset val="100"/>
        <c:noMultiLvlLbl val="0"/>
      </c:catAx>
      <c:valAx>
        <c:axId val="1291796784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Count of Ticket IDs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crossAx val="1291799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 cap="flat" cmpd="sng" algn="ctr">
      <a:solidFill>
        <a:srgbClr val="00B0F0"/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updated.xlsm]Pivots!PivotTable8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2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US" sz="1200" dirty="0"/>
              <a:t>Distribution of tickets based on satisfaction score</a:t>
            </a:r>
          </a:p>
        </c:rich>
      </c:tx>
      <c:layout>
        <c:manualLayout>
          <c:xMode val="edge"/>
          <c:yMode val="edge"/>
          <c:x val="0.14986535111054108"/>
          <c:y val="3.622485652674934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2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cap="all" spc="0" normalizeH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1" i="0" u="none" strike="noStrike" kern="1200" cap="all" spc="0" normalizeH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50" b="1" i="0" u="none" strike="noStrike" kern="1200" cap="all" spc="0" normalizeH="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50" b="1" i="0" u="none" strike="noStrike" kern="1200" cap="all" spc="0" normalizeH="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50" b="1" i="0" u="none" strike="noStrike" kern="1200" cap="all" spc="0" normalizeH="0" baseline="0">
                  <a:solidFill>
                    <a:schemeClr val="bg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Pivots!$Y$1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 algn="ctr" rtl="0">
                  <a:defRPr lang="en-US" sz="11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Pivots!$X$2:$X$6</c:f>
              <c:strCach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strCache>
            </c:strRef>
          </c:cat>
          <c:val>
            <c:numRef>
              <c:f>Pivots!$Y$2:$Y$6</c:f>
              <c:numCache>
                <c:formatCode>0</c:formatCode>
                <c:ptCount val="5"/>
                <c:pt idx="0">
                  <c:v>50770</c:v>
                </c:pt>
                <c:pt idx="1">
                  <c:v>27562</c:v>
                </c:pt>
                <c:pt idx="2">
                  <c:v>7282</c:v>
                </c:pt>
                <c:pt idx="3">
                  <c:v>1977</c:v>
                </c:pt>
                <c:pt idx="4">
                  <c:v>9907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07-450C-BB11-5E81163759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9"/>
        <c:overlap val="-27"/>
        <c:axId val="675237520"/>
        <c:axId val="675238960"/>
      </c:barChart>
      <c:catAx>
        <c:axId val="6752375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/>
                  <a:t>Satisfaction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675238960"/>
        <c:crosses val="autoZero"/>
        <c:auto val="1"/>
        <c:lblAlgn val="ctr"/>
        <c:lblOffset val="100"/>
        <c:noMultiLvlLbl val="0"/>
      </c:catAx>
      <c:valAx>
        <c:axId val="67523896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US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/>
                  <a:t>Count of ticket IDs</a:t>
                </a:r>
              </a:p>
            </c:rich>
          </c:tx>
          <c:layout>
            <c:manualLayout>
              <c:xMode val="edge"/>
              <c:yMode val="edge"/>
              <c:x val="1.5065824665447022E-2"/>
              <c:y val="0.2167948074940715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US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67523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 cap="flat" cmpd="sng" algn="ctr">
      <a:solidFill>
        <a:srgbClr val="00B0F0"/>
      </a:solidFill>
      <a:round/>
    </a:ln>
    <a:effectLst/>
  </c:spPr>
  <c:txPr>
    <a:bodyPr/>
    <a:lstStyle/>
    <a:p>
      <a:pPr algn="ctr" rtl="0">
        <a:defRPr lang="en-US" sz="1200" b="1" i="0" u="none" strike="noStrike" kern="1200" cap="all" spc="0" normalizeH="0" baseline="0">
          <a:solidFill>
            <a:prstClr val="white">
              <a:lumMod val="50000"/>
            </a:prstClr>
          </a:solidFill>
          <a:latin typeface="Adobe Fan Heiti Std B" panose="020B0700000000000000" pitchFamily="34" charset="-128"/>
          <a:ea typeface="Adobe Fan Heiti Std B" panose="020B0700000000000000" pitchFamily="34" charset="-128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 2.xlsm]Pivots!PivotTable10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rPr>
              <a:t>Distribution of tickets based on Resolution time</a:t>
            </a:r>
          </a:p>
        </c:rich>
      </c:tx>
      <c:layout>
        <c:manualLayout>
          <c:xMode val="edge"/>
          <c:yMode val="edge"/>
          <c:x val="0.15848792894696212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5302557792533814E-2"/>
          <c:y val="0.17473123416354877"/>
          <c:w val="0.91591479072058213"/>
          <c:h val="0.616136149896193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Pivots!$AH$2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Pivots!$AG$3:$AG$24</c:f>
              <c:strCache>
                <c:ptCount val="2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</c:strCache>
            </c:strRef>
          </c:cat>
          <c:val>
            <c:numRef>
              <c:f>Pivots!$AH$3:$AH$24</c:f>
              <c:numCache>
                <c:formatCode>0</c:formatCode>
                <c:ptCount val="22"/>
                <c:pt idx="0">
                  <c:v>25071</c:v>
                </c:pt>
                <c:pt idx="1">
                  <c:v>9277</c:v>
                </c:pt>
                <c:pt idx="2">
                  <c:v>6466</c:v>
                </c:pt>
                <c:pt idx="3">
                  <c:v>6200</c:v>
                </c:pt>
                <c:pt idx="4">
                  <c:v>4919</c:v>
                </c:pt>
                <c:pt idx="5">
                  <c:v>8789</c:v>
                </c:pt>
                <c:pt idx="6">
                  <c:v>7802</c:v>
                </c:pt>
                <c:pt idx="7">
                  <c:v>6582</c:v>
                </c:pt>
                <c:pt idx="8">
                  <c:v>4850</c:v>
                </c:pt>
                <c:pt idx="9">
                  <c:v>3739</c:v>
                </c:pt>
                <c:pt idx="10">
                  <c:v>3899</c:v>
                </c:pt>
                <c:pt idx="11">
                  <c:v>1732</c:v>
                </c:pt>
                <c:pt idx="12">
                  <c:v>1555</c:v>
                </c:pt>
                <c:pt idx="13">
                  <c:v>1712</c:v>
                </c:pt>
                <c:pt idx="14">
                  <c:v>1566</c:v>
                </c:pt>
                <c:pt idx="15">
                  <c:v>1360</c:v>
                </c:pt>
                <c:pt idx="16">
                  <c:v>1167</c:v>
                </c:pt>
                <c:pt idx="17">
                  <c:v>554</c:v>
                </c:pt>
                <c:pt idx="18">
                  <c:v>124</c:v>
                </c:pt>
                <c:pt idx="19">
                  <c:v>130</c:v>
                </c:pt>
                <c:pt idx="20">
                  <c:v>2</c:v>
                </c:pt>
                <c:pt idx="2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64-4B09-8F73-F749508453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90"/>
        <c:axId val="1291822224"/>
        <c:axId val="1291815024"/>
      </c:barChart>
      <c:catAx>
        <c:axId val="1291822224"/>
        <c:scaling>
          <c:orientation val="minMax"/>
        </c:scaling>
        <c:delete val="0"/>
        <c:axPos val="b"/>
        <c:majorGridlines>
          <c:spPr>
            <a:ln w="222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Resolution Time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 rtl="0">
              <a:def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1291815024"/>
        <c:crosses val="autoZero"/>
        <c:auto val="1"/>
        <c:lblAlgn val="ctr"/>
        <c:lblOffset val="100"/>
        <c:noMultiLvlLbl val="0"/>
      </c:catAx>
      <c:valAx>
        <c:axId val="1291815024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IN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rPr>
                  <a:t>Count of ticket IDs </a:t>
                </a:r>
              </a:p>
            </c:rich>
          </c:tx>
          <c:layout>
            <c:manualLayout>
              <c:xMode val="edge"/>
              <c:yMode val="edge"/>
              <c:x val="1.9444416712735967E-2"/>
              <c:y val="0.2131729115871090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lang="en-IN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1291822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>
      <a:solidFill>
        <a:srgbClr val="00B0F0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[IT Tickets Analysis updated.xlsm]Pivots!PivotTable3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4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r>
              <a:rPr lang="en-US" sz="1400" b="1"/>
              <a:t>Count of tickets by request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400" b="1" i="0" u="none" strike="noStrike" kern="1200" cap="all" spc="0" normalizeH="0" baseline="0">
              <a:solidFill>
                <a:prstClr val="white">
                  <a:lumMod val="50000"/>
                </a:prstClr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cap="all" spc="0" normalizeH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cap="all" spc="0" normalizeH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cap="all" spc="0" normalizeH="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401654624117999"/>
          <c:y val="0.17581387675639201"/>
          <c:w val="0.63050295518812605"/>
          <c:h val="0.6465953911724335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Pivots!$M$1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4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Pivots!$L$2:$L$6</c:f>
              <c:strCache>
                <c:ptCount val="4"/>
                <c:pt idx="0">
                  <c:v>System</c:v>
                </c:pt>
                <c:pt idx="1">
                  <c:v>Software</c:v>
                </c:pt>
                <c:pt idx="2">
                  <c:v>Login Access</c:v>
                </c:pt>
                <c:pt idx="3">
                  <c:v>Hardware</c:v>
                </c:pt>
              </c:strCache>
            </c:strRef>
          </c:cat>
          <c:val>
            <c:numRef>
              <c:f>Pivots!$M$2:$M$6</c:f>
              <c:numCache>
                <c:formatCode>0</c:formatCode>
                <c:ptCount val="4"/>
                <c:pt idx="0">
                  <c:v>39002</c:v>
                </c:pt>
                <c:pt idx="1">
                  <c:v>19570</c:v>
                </c:pt>
                <c:pt idx="2">
                  <c:v>29193</c:v>
                </c:pt>
                <c:pt idx="3">
                  <c:v>9733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80-488F-9129-7A103DB0F2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6"/>
        <c:axId val="538186223"/>
        <c:axId val="538188623"/>
      </c:barChart>
      <c:catAx>
        <c:axId val="5381862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US" sz="1200"/>
                  <a:t>Request Category</a:t>
                </a:r>
              </a:p>
            </c:rich>
          </c:tx>
          <c:layout>
            <c:manualLayout>
              <c:xMode val="edge"/>
              <c:yMode val="edge"/>
              <c:x val="1.8996675401151925E-2"/>
              <c:y val="0.1789345027817982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en-US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1" i="0" u="none" strike="noStrike" kern="1200" cap="all" spc="0" normalizeH="0" baseline="0">
                <a:solidFill>
                  <a:prstClr val="white">
                    <a:lumMod val="50000"/>
                  </a:prst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  <a:cs typeface="+mn-cs"/>
              </a:defRPr>
            </a:pPr>
            <a:endParaRPr lang="en-US"/>
          </a:p>
        </c:txPr>
        <c:crossAx val="538188623"/>
        <c:crosses val="autoZero"/>
        <c:auto val="1"/>
        <c:lblAlgn val="ctr"/>
        <c:lblOffset val="100"/>
        <c:noMultiLvlLbl val="0"/>
      </c:catAx>
      <c:valAx>
        <c:axId val="538188623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200" b="1" i="0" u="none" strike="noStrike" kern="1200" cap="all" spc="0" normalizeH="0" baseline="0">
                    <a:solidFill>
                      <a:prstClr val="white">
                        <a:lumMod val="50000"/>
                      </a:prstClr>
                    </a:solidFill>
                    <a:latin typeface="Adobe Fan Heiti Std B" panose="020B0700000000000000" pitchFamily="34" charset="-128"/>
                    <a:ea typeface="Adobe Fan Heiti Std B" panose="020B0700000000000000" pitchFamily="34" charset="-128"/>
                    <a:cs typeface="+mn-cs"/>
                  </a:defRPr>
                </a:pPr>
                <a:r>
                  <a:rPr lang="en-US" sz="1200"/>
                  <a:t>Count of ticket IDs</a:t>
                </a:r>
              </a:p>
            </c:rich>
          </c:tx>
          <c:layout>
            <c:manualLayout>
              <c:xMode val="edge"/>
              <c:yMode val="edge"/>
              <c:x val="0.41232115120997392"/>
              <c:y val="0.8364018379075970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en-US" sz="1200" b="1" i="0" u="none" strike="noStrike" kern="1200" cap="all" spc="0" normalizeH="0" baseline="0">
                  <a:solidFill>
                    <a:prstClr val="white">
                      <a:lumMod val="50000"/>
                    </a:prst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crossAx val="5381862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5875" cap="flat" cmpd="sng" algn="ctr">
      <a:solidFill>
        <a:srgbClr val="00B0F0"/>
      </a:solidFill>
      <a:round/>
    </a:ln>
    <a:effectLst/>
  </c:spPr>
  <c:txPr>
    <a:bodyPr/>
    <a:lstStyle/>
    <a:p>
      <a:pPr algn="ctr" rtl="0">
        <a:defRPr lang="en-US" sz="1400" b="1" i="0" u="none" strike="noStrike" kern="1200" cap="all" spc="0" normalizeH="0" baseline="0">
          <a:solidFill>
            <a:prstClr val="white">
              <a:lumMod val="50000"/>
            </a:prstClr>
          </a:solidFill>
          <a:latin typeface="Adobe Fan Heiti Std B" panose="020B0700000000000000" pitchFamily="34" charset="-128"/>
          <a:ea typeface="Adobe Fan Heiti Std B" panose="020B0700000000000000" pitchFamily="34" charset="-128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D554-5D64-2AC5-0594-433CBCCAB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077FE-5B46-0A3A-36BE-7DFAEC2EF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129DA-3548-5645-083E-CDC3B44E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290BD-D95D-2A37-402F-B6F212DAE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BDF11-2790-F1B9-5D53-AD8622F7C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86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9159-F584-CC72-B15E-957E6FBF9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1A7E-2866-FE20-11E5-5D8DF045F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B6E52-D2F9-7E71-F182-2F18EB87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64D12-F68C-1132-9B4E-760F6384A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61C08-BA5D-C7D6-C522-AE8BC73EE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82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5F094-F13C-C673-4D62-EFBBB6F2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5547C-60DD-F6FC-BE45-7BA8A5D28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061F8-5DF1-70CC-6151-D902D93D2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BF9E8-A302-FB6F-FE0D-AC73DE30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1D000-18F1-0D53-29C7-FEE52B5EA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09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5042-C8D1-FCF5-AF6D-0B552D2F1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D822D-BB5B-526B-3932-E9FB8D9B8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91AACE-7FF9-FAA7-2071-C42EA907E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8310C-C0AE-1AAE-1FAE-3F02427E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629F5-625E-EFF7-F34F-1C19C57E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8F1A1B-D0F0-8109-2AC9-EBD99212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03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798A9-9702-C790-0C4C-CE0DD7E77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7198B-7BCD-D6C5-4753-3CABA5C25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9DAE6B-A324-42EF-13A2-8E59CE8E17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DC26FD-A5E1-2ECC-2A4A-92705DB5D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6EB495-D131-A2B5-2A30-6DCC4F39E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E7BB49-021F-97ED-A47F-205159E11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19CA57-8928-5AAE-652E-70B1DE273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496D37-A53E-714C-00C9-53D065C47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49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4B525-0843-0DC1-D378-3BB272BD8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A1B202-EAC5-FA6D-4105-A91DC96E0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655444-7C66-1734-81DC-93DAE905D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EAC545-9F57-5B77-98DA-3038BECA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170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04150-858D-3304-4452-F0DFE7C4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5E5A0-8375-5FE1-8598-0523D14AD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89AAB-7FBF-A2F3-8229-AD12D4CD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395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E5476-7090-BC55-F4D9-61B0F03B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308EC-F58D-8F1C-5680-6564F357D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D8EEAA-726E-5629-4ABA-178111655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409F5-A714-4F6B-6665-DC39298A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2A6B-A0F8-4ACB-EFCB-D268B3DC4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6ECC3-8D7C-0F72-3E77-2669CF71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3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606A-E949-D9D8-0E41-D3C76B176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68E8A0-E999-CB31-6511-88F81A20A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54C517-99C1-3B03-9786-8F1082C6C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DF21F-7B9B-2F7D-EA39-EA56E7C0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687C2-A239-9605-E404-3BFE240BC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FB0BDD-F3DF-223A-78E2-826727EF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84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B8A29-A4B7-D0A7-2753-B57975D86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E00CE-395C-20B8-FE87-62E3DF72C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F827E-579F-91C5-AFCF-50ABE249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EB36B-7CE3-2511-B7DA-B97C83A2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9D1AC-D986-D791-4AFE-EA006B9DB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49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4D983-C80D-9F7B-D247-33CFE5F60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3B735-A891-0CB1-3207-378C8F056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344F8-DEA6-E72C-E974-FE5825691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2A1A9-4760-1FFB-9DD6-D819C9885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7F4DA-713C-06AF-708D-AD1D8F2BA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83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9D03C0-F385-1CD8-1CB7-9D9E92AA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CC516-D847-6B41-CAEB-A1F55DAD4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D3A09-3090-58E7-26DC-279E14934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D11C2B-A5C7-445A-B0D1-DB0571163EBA}" type="datetimeFigureOut">
              <a:rPr lang="en-IN" smtClean="0"/>
              <a:t>12-10-2025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377A2-B44B-C46A-BEB2-85D53C298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F0F8C-4C24-875E-8E7C-029A0F68D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E613A-85EF-4FD0-8E1C-172AF26C72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5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hestoryreadingapeblog.com/2018/06/02/whatever-possessed-him/" TargetMode="Externa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 descr="320+ Help Desk Ticket Stock Photos, Pictures &amp; Royalty-Free Images - iStock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659329" y="248266"/>
            <a:ext cx="4252452" cy="569051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3;p1">
            <a:extLst>
              <a:ext uri="{FF2B5EF4-FFF2-40B4-BE49-F238E27FC236}">
                <a16:creationId xmlns:a16="http://schemas.microsoft.com/office/drawing/2014/main" id="{4A02C4EC-E4EE-A2E8-3808-7512AFBE1DDD}"/>
              </a:ext>
            </a:extLst>
          </p:cNvPr>
          <p:cNvSpPr txBox="1"/>
          <p:nvPr/>
        </p:nvSpPr>
        <p:spPr>
          <a:xfrm>
            <a:off x="898720" y="1838445"/>
            <a:ext cx="4581831" cy="2347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80000"/>
              </a:lnSpc>
              <a:buClr>
                <a:srgbClr val="000000"/>
              </a:buClr>
            </a:pPr>
            <a:r>
              <a:rPr lang="en-IN" sz="9534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IT Ticket Analysis </a:t>
            </a:r>
            <a:endParaRPr sz="9534" kern="0" dirty="0">
              <a:solidFill>
                <a:schemeClr val="tx2">
                  <a:lumMod val="75000"/>
                </a:schemeClr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" name="Graphic 6" descr="Call center with solid fill">
            <a:extLst>
              <a:ext uri="{FF2B5EF4-FFF2-40B4-BE49-F238E27FC236}">
                <a16:creationId xmlns:a16="http://schemas.microsoft.com/office/drawing/2014/main" id="{995A62E5-6B6B-30C7-4C39-220C4A1AAE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220" y="248266"/>
            <a:ext cx="646470" cy="646470"/>
          </a:xfrm>
          <a:prstGeom prst="rect">
            <a:avLst/>
          </a:prstGeom>
        </p:spPr>
      </p:pic>
      <p:sp>
        <p:nvSpPr>
          <p:cNvPr id="185" name="Google Shape;185;p8"/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56520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30;p4" descr="Ticket Management System – Raik Solutions">
            <a:extLst>
              <a:ext uri="{FF2B5EF4-FFF2-40B4-BE49-F238E27FC236}">
                <a16:creationId xmlns:a16="http://schemas.microsoft.com/office/drawing/2014/main" id="{68763F9A-0481-691E-1FCB-40BE8644A444}"/>
              </a:ext>
            </a:extLst>
          </p:cNvPr>
          <p:cNvPicPr preferRelativeResize="0"/>
          <p:nvPr/>
        </p:nvPicPr>
        <p:blipFill rotWithShape="1">
          <a:blip r:embed="rId2"/>
          <a:srcRect/>
          <a:stretch/>
        </p:blipFill>
        <p:spPr>
          <a:xfrm>
            <a:off x="4404852" y="0"/>
            <a:ext cx="778714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8;p4">
            <a:extLst>
              <a:ext uri="{FF2B5EF4-FFF2-40B4-BE49-F238E27FC236}">
                <a16:creationId xmlns:a16="http://schemas.microsoft.com/office/drawing/2014/main" id="{6BCB5747-7E0A-56E6-5887-59B461C525D3}"/>
              </a:ext>
            </a:extLst>
          </p:cNvPr>
          <p:cNvSpPr txBox="1"/>
          <p:nvPr/>
        </p:nvSpPr>
        <p:spPr>
          <a:xfrm>
            <a:off x="456821" y="805733"/>
            <a:ext cx="2849509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95000"/>
              </a:lnSpc>
              <a:buClr>
                <a:srgbClr val="000000"/>
              </a:buClr>
              <a:buSzPts val="9600"/>
            </a:pPr>
            <a:r>
              <a:rPr lang="en-IN" sz="3600" b="1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Introduction</a:t>
            </a:r>
            <a:r>
              <a:rPr lang="en-IN" sz="4800" kern="0" dirty="0">
                <a:solidFill>
                  <a:srgbClr val="D6F8A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endParaRPr sz="533" kern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raphic 4" descr="Call center with solid fill">
            <a:extLst>
              <a:ext uri="{FF2B5EF4-FFF2-40B4-BE49-F238E27FC236}">
                <a16:creationId xmlns:a16="http://schemas.microsoft.com/office/drawing/2014/main" id="{958DB5E9-9FF2-6E89-914B-C1D325BC2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42" y="145187"/>
            <a:ext cx="549522" cy="54952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F7F51F8-791B-14C2-0553-BACC91EEA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22" y="1908957"/>
            <a:ext cx="5019746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 defTabSz="60963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b="1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Analyzed resolution </a:t>
            </a: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times to uncover delays and improve efficiency.</a:t>
            </a:r>
          </a:p>
          <a:p>
            <a:pPr marL="342900" indent="-342900" defTabSz="60963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b="1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Reviewed customer </a:t>
            </a: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feedback to highlight service gaps and strengths.</a:t>
            </a:r>
          </a:p>
          <a:p>
            <a:pPr marL="342900" indent="-342900" defTabSz="60963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b="1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Assessed agent performance </a:t>
            </a: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to identify top performers and support needs.</a:t>
            </a:r>
          </a:p>
          <a:p>
            <a:pPr marL="342900" indent="-342900" defTabSz="60963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b="1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Recommended training: </a:t>
            </a: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staffing, and process improvements.</a:t>
            </a:r>
          </a:p>
        </p:txBody>
      </p:sp>
    </p:spTree>
    <p:extLst>
      <p:ext uri="{BB962C8B-B14F-4D97-AF65-F5344CB8AC3E}">
        <p14:creationId xmlns:p14="http://schemas.microsoft.com/office/powerpoint/2010/main" val="1102044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49445" y="19664"/>
            <a:ext cx="864255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0;p5">
            <a:extLst>
              <a:ext uri="{FF2B5EF4-FFF2-40B4-BE49-F238E27FC236}">
                <a16:creationId xmlns:a16="http://schemas.microsoft.com/office/drawing/2014/main" id="{EA185CA0-615B-7225-2FB6-AEDE7E6A8815}"/>
              </a:ext>
            </a:extLst>
          </p:cNvPr>
          <p:cNvSpPr txBox="1"/>
          <p:nvPr/>
        </p:nvSpPr>
        <p:spPr>
          <a:xfrm>
            <a:off x="411118" y="4821813"/>
            <a:ext cx="2745038" cy="1866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90999"/>
              </a:lnSpc>
              <a:buClr>
                <a:srgbClr val="000000"/>
              </a:buClr>
              <a:buSzPts val="9999"/>
            </a:pPr>
            <a:r>
              <a:rPr lang="en-IN" sz="6666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its works </a:t>
            </a:r>
            <a:endParaRPr sz="933" kern="0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369F216F-F36F-3DB7-996F-CA8F7B23EE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54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2;p6">
            <a:extLst>
              <a:ext uri="{FF2B5EF4-FFF2-40B4-BE49-F238E27FC236}">
                <a16:creationId xmlns:a16="http://schemas.microsoft.com/office/drawing/2014/main" id="{5FBEC784-B5BF-A46C-164E-567EF84BABE4}"/>
              </a:ext>
            </a:extLst>
          </p:cNvPr>
          <p:cNvSpPr txBox="1"/>
          <p:nvPr/>
        </p:nvSpPr>
        <p:spPr>
          <a:xfrm>
            <a:off x="1374393" y="169266"/>
            <a:ext cx="8326585" cy="789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94999"/>
              </a:lnSpc>
              <a:buClr>
                <a:srgbClr val="000000"/>
              </a:buClr>
              <a:buSzPts val="9999"/>
            </a:pPr>
            <a:r>
              <a:rPr lang="en-IN" sz="54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Problem Statement</a:t>
            </a:r>
            <a:endParaRPr sz="700" kern="0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E8670F4D-C221-B916-C880-BD425B83E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28B324-97A3-7303-D26A-57A5C819BA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078427" y="0"/>
            <a:ext cx="4113573" cy="6125497"/>
          </a:xfrm>
          <a:prstGeom prst="rect">
            <a:avLst/>
          </a:prstGeom>
        </p:spPr>
      </p:pic>
      <p:sp>
        <p:nvSpPr>
          <p:cNvPr id="11" name="Google Shape;185;p8">
            <a:extLst>
              <a:ext uri="{FF2B5EF4-FFF2-40B4-BE49-F238E27FC236}">
                <a16:creationId xmlns:a16="http://schemas.microsoft.com/office/drawing/2014/main" id="{7699AEDB-0CEF-1975-6AAE-16831D7C2CBD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0F3970-E869-C78A-E13E-D33855457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4393" y="1227288"/>
            <a:ext cx="5712329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indent="-342900" defTabSz="60963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Support tickets increased by 124% over five years.</a:t>
            </a:r>
            <a:endParaRPr lang="en-US" altLang="en-US" kern="0" dirty="0">
              <a:solidFill>
                <a:schemeClr val="tx2">
                  <a:lumMod val="75000"/>
                </a:schemeClr>
              </a:solidFill>
              <a:latin typeface="Red Hat Display"/>
              <a:ea typeface="Red Hat Display"/>
              <a:cs typeface="Red Hat Display"/>
            </a:endParaRPr>
          </a:p>
          <a:p>
            <a:pPr marL="342900" indent="-342900" defTabSz="60963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Hardware, software, and system issues take longer to resolve than login-related tickets.</a:t>
            </a:r>
          </a:p>
          <a:p>
            <a:pPr marL="342900" indent="-342900" defTabSz="60963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Lack of visibility into agent performance and resolution trends hinders informed decisions.</a:t>
            </a:r>
          </a:p>
          <a:p>
            <a:pPr marL="342900" indent="-342900" defTabSz="609630">
              <a:lnSpc>
                <a:spcPct val="2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rPr>
              <a:t>Employee satisfaction improved by only 4.15% despite rising demand.</a:t>
            </a:r>
          </a:p>
        </p:txBody>
      </p:sp>
    </p:spTree>
    <p:extLst>
      <p:ext uri="{BB962C8B-B14F-4D97-AF65-F5344CB8AC3E}">
        <p14:creationId xmlns:p14="http://schemas.microsoft.com/office/powerpoint/2010/main" val="320446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all center with solid fill">
            <a:extLst>
              <a:ext uri="{FF2B5EF4-FFF2-40B4-BE49-F238E27FC236}">
                <a16:creationId xmlns:a16="http://schemas.microsoft.com/office/drawing/2014/main" id="{7EE027CD-FC3E-FBFB-7945-6009576E61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AF25A7DE-3DF2-B451-D75D-3BE68DB358AA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sp>
        <p:nvSpPr>
          <p:cNvPr id="4" name="Google Shape;172;p7">
            <a:extLst>
              <a:ext uri="{FF2B5EF4-FFF2-40B4-BE49-F238E27FC236}">
                <a16:creationId xmlns:a16="http://schemas.microsoft.com/office/drawing/2014/main" id="{BE54AEC6-B23C-BD02-A144-9539018CA7D7}"/>
              </a:ext>
            </a:extLst>
          </p:cNvPr>
          <p:cNvSpPr txBox="1"/>
          <p:nvPr/>
        </p:nvSpPr>
        <p:spPr>
          <a:xfrm>
            <a:off x="734353" y="200183"/>
            <a:ext cx="787870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2" algn="ctr" defTabSz="609630">
              <a:buClr>
                <a:srgbClr val="000000"/>
              </a:buClr>
              <a:buSzPts val="9999"/>
            </a:pPr>
            <a:r>
              <a:rPr lang="en-IN" sz="4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IT Management system </a:t>
            </a:r>
            <a:r>
              <a:rPr lang="en-IN" sz="36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Snapshot</a:t>
            </a:r>
            <a:endParaRPr lang="en-IN" sz="3200" kern="0" dirty="0">
              <a:solidFill>
                <a:schemeClr val="tx2">
                  <a:lumMod val="75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Google Shape;177;p7">
            <a:extLst>
              <a:ext uri="{FF2B5EF4-FFF2-40B4-BE49-F238E27FC236}">
                <a16:creationId xmlns:a16="http://schemas.microsoft.com/office/drawing/2014/main" id="{797788F1-82AD-5F88-B67B-A34C8B037243}"/>
              </a:ext>
            </a:extLst>
          </p:cNvPr>
          <p:cNvSpPr txBox="1"/>
          <p:nvPr/>
        </p:nvSpPr>
        <p:spPr>
          <a:xfrm>
            <a:off x="734353" y="1956546"/>
            <a:ext cx="8016357" cy="1097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15000"/>
              </a:lnSpc>
              <a:buClr>
                <a:srgbClr val="000000"/>
              </a:buClr>
            </a:pPr>
            <a:r>
              <a:rPr lang="en-IN" sz="2000" b="1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Resolution Time vs Satisfaction: </a:t>
            </a:r>
            <a:r>
              <a:rPr lang="en-IN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Most tickets are resolved within 0–5 days, with satisfaction rates ranging between ~4.0 to 4.12, indicating moderate employee satisfaction</a:t>
            </a:r>
            <a:r>
              <a:rPr lang="en-IN" sz="24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.</a:t>
            </a:r>
            <a:endParaRPr sz="2400" kern="0" dirty="0">
              <a:solidFill>
                <a:schemeClr val="tx2">
                  <a:lumMod val="75000"/>
                </a:schemeClr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75;p7">
            <a:extLst>
              <a:ext uri="{FF2B5EF4-FFF2-40B4-BE49-F238E27FC236}">
                <a16:creationId xmlns:a16="http://schemas.microsoft.com/office/drawing/2014/main" id="{811A038A-A60A-54A3-A783-2BEC991954CB}"/>
              </a:ext>
            </a:extLst>
          </p:cNvPr>
          <p:cNvSpPr txBox="1"/>
          <p:nvPr/>
        </p:nvSpPr>
        <p:spPr>
          <a:xfrm>
            <a:off x="734353" y="1261134"/>
            <a:ext cx="6689002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lnSpc>
                <a:spcPct val="115000"/>
              </a:lnSpc>
              <a:buClr>
                <a:srgbClr val="000000"/>
              </a:buClr>
              <a:defRPr sz="1600" b="1" kern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2000" dirty="0">
                <a:sym typeface="Red Hat Display"/>
              </a:rPr>
              <a:t>Total Tickets: </a:t>
            </a:r>
            <a:r>
              <a:rPr lang="en-IN" sz="1800" b="0" dirty="0">
                <a:sym typeface="Red Hat Display"/>
              </a:rPr>
              <a:t>97,498 IT tickets were logged across all categories.</a:t>
            </a:r>
            <a:endParaRPr sz="1800" b="0" dirty="0">
              <a:sym typeface="Red Hat Display"/>
            </a:endParaRPr>
          </a:p>
        </p:txBody>
      </p:sp>
      <p:sp>
        <p:nvSpPr>
          <p:cNvPr id="17" name="Google Shape;176;p7">
            <a:extLst>
              <a:ext uri="{FF2B5EF4-FFF2-40B4-BE49-F238E27FC236}">
                <a16:creationId xmlns:a16="http://schemas.microsoft.com/office/drawing/2014/main" id="{C1DD030E-F1D4-43DA-C64A-D97345EFA918}"/>
              </a:ext>
            </a:extLst>
          </p:cNvPr>
          <p:cNvSpPr txBox="1"/>
          <p:nvPr/>
        </p:nvSpPr>
        <p:spPr>
          <a:xfrm>
            <a:off x="734353" y="3096346"/>
            <a:ext cx="3287041" cy="162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lnSpc>
                <a:spcPct val="115000"/>
              </a:lnSpc>
              <a:buClr>
                <a:srgbClr val="000000"/>
              </a:buClr>
              <a:defRPr sz="1600" b="1" kern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2000" dirty="0">
                <a:sym typeface="Red Hat Display"/>
              </a:rPr>
              <a:t>Category Breakdown:</a:t>
            </a:r>
            <a:endParaRPr sz="200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Hardware: 9,733 tickets</a:t>
            </a:r>
            <a:endParaRPr sz="1800" b="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Software: 19,570 tickets</a:t>
            </a:r>
            <a:endParaRPr sz="1800" b="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System: 39,002 tickets</a:t>
            </a:r>
            <a:endParaRPr sz="1800" b="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Login/Access: 29,193 tickets</a:t>
            </a:r>
            <a:endParaRPr sz="1800" b="0" dirty="0">
              <a:sym typeface="Arial"/>
            </a:endParaRPr>
          </a:p>
        </p:txBody>
      </p:sp>
      <p:sp>
        <p:nvSpPr>
          <p:cNvPr id="18" name="Google Shape;177;p7">
            <a:extLst>
              <a:ext uri="{FF2B5EF4-FFF2-40B4-BE49-F238E27FC236}">
                <a16:creationId xmlns:a16="http://schemas.microsoft.com/office/drawing/2014/main" id="{19FB957A-A559-04B4-3C7F-0A4B0759CCED}"/>
              </a:ext>
            </a:extLst>
          </p:cNvPr>
          <p:cNvSpPr txBox="1"/>
          <p:nvPr/>
        </p:nvSpPr>
        <p:spPr>
          <a:xfrm>
            <a:off x="734353" y="4929470"/>
            <a:ext cx="7416589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lnSpc>
                <a:spcPct val="115000"/>
              </a:lnSpc>
              <a:buClr>
                <a:srgbClr val="000000"/>
              </a:buClr>
              <a:defRPr sz="1600" b="1" kern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2000" dirty="0">
                <a:sym typeface="Red Hat Display"/>
              </a:rPr>
              <a:t>Resolution Time vs Satisfaction: </a:t>
            </a:r>
            <a:r>
              <a:rPr lang="en-IN" sz="1800" b="0" dirty="0">
                <a:sym typeface="Red Hat Display"/>
              </a:rPr>
              <a:t>Most tickets are resolved within 0–5 days, with satisfaction rates ranging between ~4.0 to 4.12, indicating moderate employee satisfaction.</a:t>
            </a:r>
            <a:endParaRPr sz="1800" b="0" dirty="0"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37362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EC283C62-F61C-BD49-51AA-FCD54ADC55BC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92684A5D-CB90-D081-E4D4-4885912BE5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19" name="Google Shape;178;p7">
            <a:extLst>
              <a:ext uri="{FF2B5EF4-FFF2-40B4-BE49-F238E27FC236}">
                <a16:creationId xmlns:a16="http://schemas.microsoft.com/office/drawing/2014/main" id="{B5F4B2C3-BDC9-FA2C-F099-FAA978A3A3B0}"/>
              </a:ext>
            </a:extLst>
          </p:cNvPr>
          <p:cNvSpPr txBox="1"/>
          <p:nvPr/>
        </p:nvSpPr>
        <p:spPr>
          <a:xfrm>
            <a:off x="912718" y="1139979"/>
            <a:ext cx="4504856" cy="1628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lnSpc>
                <a:spcPct val="115000"/>
              </a:lnSpc>
              <a:buClr>
                <a:srgbClr val="000000"/>
              </a:buClr>
              <a:defRPr sz="1600" b="1" kern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2000" dirty="0">
                <a:sym typeface="Red Hat Display"/>
              </a:rPr>
              <a:t>Request Category Resolution Times:</a:t>
            </a:r>
            <a:endParaRPr sz="200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Hardware: 7.6 days (longest)</a:t>
            </a:r>
            <a:endParaRPr sz="1800" b="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System: 6.6 days</a:t>
            </a:r>
            <a:endParaRPr sz="1800" b="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Software: 5.2 days</a:t>
            </a:r>
            <a:endParaRPr sz="1800" b="0" dirty="0">
              <a:sym typeface="Arial"/>
            </a:endParaRPr>
          </a:p>
          <a:p>
            <a:r>
              <a:rPr lang="en-IN" sz="1800" b="0" dirty="0">
                <a:sym typeface="Red Hat Display"/>
              </a:rPr>
              <a:t>Login/Access: 0.3 days (fastest)</a:t>
            </a:r>
            <a:endParaRPr sz="1800" b="0" dirty="0">
              <a:sym typeface="Arial"/>
            </a:endParaRPr>
          </a:p>
        </p:txBody>
      </p:sp>
      <p:sp>
        <p:nvSpPr>
          <p:cNvPr id="25" name="Google Shape;184;p7">
            <a:extLst>
              <a:ext uri="{FF2B5EF4-FFF2-40B4-BE49-F238E27FC236}">
                <a16:creationId xmlns:a16="http://schemas.microsoft.com/office/drawing/2014/main" id="{352436FD-5185-6BBC-4259-E4C7F491B09B}"/>
              </a:ext>
            </a:extLst>
          </p:cNvPr>
          <p:cNvSpPr txBox="1"/>
          <p:nvPr/>
        </p:nvSpPr>
        <p:spPr>
          <a:xfrm>
            <a:off x="912717" y="3066429"/>
            <a:ext cx="6078017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lnSpc>
                <a:spcPct val="115000"/>
              </a:lnSpc>
              <a:buClr>
                <a:srgbClr val="000000"/>
              </a:buClr>
              <a:defRPr sz="1600" b="1" kern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2000" dirty="0">
                <a:sym typeface="Red Hat Display"/>
              </a:rPr>
              <a:t>Team Performance Trends: </a:t>
            </a:r>
            <a:r>
              <a:rPr lang="en-IN" sz="1800" b="0" dirty="0">
                <a:sym typeface="Red Hat Display"/>
              </a:rPr>
              <a:t>Overall performance shows gradual improvement over months, with satisfaction rates trending upward, peaking at ~8,495 (performance metric).</a:t>
            </a:r>
            <a:endParaRPr sz="1800" b="0" dirty="0">
              <a:sym typeface="Arial"/>
            </a:endParaRPr>
          </a:p>
        </p:txBody>
      </p:sp>
      <p:sp>
        <p:nvSpPr>
          <p:cNvPr id="4" name="Google Shape;172;p7">
            <a:extLst>
              <a:ext uri="{FF2B5EF4-FFF2-40B4-BE49-F238E27FC236}">
                <a16:creationId xmlns:a16="http://schemas.microsoft.com/office/drawing/2014/main" id="{CB559B44-5CD3-4F64-1A99-F11C6699728B}"/>
              </a:ext>
            </a:extLst>
          </p:cNvPr>
          <p:cNvSpPr txBox="1"/>
          <p:nvPr/>
        </p:nvSpPr>
        <p:spPr>
          <a:xfrm>
            <a:off x="734353" y="200183"/>
            <a:ext cx="7878705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2" algn="ctr" defTabSz="609630">
              <a:buClr>
                <a:srgbClr val="000000"/>
              </a:buClr>
              <a:buSzPts val="9999"/>
            </a:pPr>
            <a:r>
              <a:rPr lang="en-IN" sz="40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IT Management system </a:t>
            </a:r>
            <a:r>
              <a:rPr lang="en-IN" sz="3600" kern="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Data Snapshot</a:t>
            </a:r>
            <a:endParaRPr lang="en-IN" sz="3200" kern="0" dirty="0">
              <a:solidFill>
                <a:schemeClr val="tx2">
                  <a:lumMod val="75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4" name="Google Shape;183;p7">
            <a:extLst>
              <a:ext uri="{FF2B5EF4-FFF2-40B4-BE49-F238E27FC236}">
                <a16:creationId xmlns:a16="http://schemas.microsoft.com/office/drawing/2014/main" id="{754BA2CE-F335-EA60-832B-ECF306B62FC5}"/>
              </a:ext>
            </a:extLst>
          </p:cNvPr>
          <p:cNvSpPr txBox="1"/>
          <p:nvPr/>
        </p:nvSpPr>
        <p:spPr>
          <a:xfrm>
            <a:off x="912717" y="4595963"/>
            <a:ext cx="5267810" cy="991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lnSpc>
                <a:spcPct val="115000"/>
              </a:lnSpc>
              <a:buClr>
                <a:srgbClr val="000000"/>
              </a:buClr>
              <a:defRPr sz="1600" b="1" kern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2000" dirty="0">
                <a:sym typeface="Red Hat Display"/>
              </a:rPr>
              <a:t>Top 5 Average Performers: </a:t>
            </a:r>
            <a:r>
              <a:rPr lang="en-IN" sz="1800" b="0" dirty="0">
                <a:sym typeface="Red Hat Display"/>
              </a:rPr>
              <a:t>Agents with IDs 19, 6, 25, 28, and 3 show average resolution times of 5.0–5.4 days and satisfaction rates of 3.0–3.6.</a:t>
            </a:r>
            <a:endParaRPr sz="1800" b="0" dirty="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699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466724FA-FCF1-637F-8281-447868AABEC5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9FA7925F-E298-A40E-2CFE-DCC86A160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4" name="Google Shape;190;p8">
            <a:extLst>
              <a:ext uri="{FF2B5EF4-FFF2-40B4-BE49-F238E27FC236}">
                <a16:creationId xmlns:a16="http://schemas.microsoft.com/office/drawing/2014/main" id="{85A6E0DE-3986-1203-E37D-F2D9E7865AD9}"/>
              </a:ext>
            </a:extLst>
          </p:cNvPr>
          <p:cNvSpPr txBox="1">
            <a:spLocks/>
          </p:cNvSpPr>
          <p:nvPr/>
        </p:nvSpPr>
        <p:spPr>
          <a:xfrm>
            <a:off x="830764" y="169266"/>
            <a:ext cx="8460720" cy="75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SzPct val="111111"/>
            </a:pPr>
            <a:r>
              <a:rPr lang="en-IN" sz="400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Analytical Approach &amp;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tools</a:t>
            </a:r>
            <a:endParaRPr lang="en-IN" sz="5400" dirty="0">
              <a:solidFill>
                <a:schemeClr val="tx2">
                  <a:lumMod val="75000"/>
                </a:schemeClr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" name="Google Shape;191;p8">
            <a:extLst>
              <a:ext uri="{FF2B5EF4-FFF2-40B4-BE49-F238E27FC236}">
                <a16:creationId xmlns:a16="http://schemas.microsoft.com/office/drawing/2014/main" id="{DE9733BE-D92C-4AF2-8DDC-C1E65905074C}"/>
              </a:ext>
            </a:extLst>
          </p:cNvPr>
          <p:cNvSpPr txBox="1">
            <a:spLocks/>
          </p:cNvSpPr>
          <p:nvPr/>
        </p:nvSpPr>
        <p:spPr>
          <a:xfrm>
            <a:off x="830764" y="1043745"/>
            <a:ext cx="10800797" cy="4770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Data Cleaning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: Utilized functions like TRIM, CLEAN, and Remove Duplicates to ensure ticket data accuracy.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Data Enrichment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: Enhanced dataset with additional variables such as agent details, priority levels, and SLA using VLOOKUP to cross-reference external sources.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Descriptive Analysis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: Employed Pivot Tables to summarize ticket metrics, agent performance, and resolution efficiency across departments.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Trend Analysis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: Conducted time series analysis using TREND and FORECAST functions to predict ticket volumes and resolution timelines.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Agent Performance Segmentation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: Applied SORT and FILTER to classify IT agents into high, medium, and low performers based on KPIs.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Employee Satisfaction Analysis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: Used weighted scoring and charts to assess and visualize employee satisfaction levels with IT support.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105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96FA4211-1991-5DEF-5459-B74A5BEE730D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2EFCED1A-F403-7844-0943-12FC2B526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4" name="Google Shape;199;p9">
            <a:extLst>
              <a:ext uri="{FF2B5EF4-FFF2-40B4-BE49-F238E27FC236}">
                <a16:creationId xmlns:a16="http://schemas.microsoft.com/office/drawing/2014/main" id="{C4EF42D5-54D1-D4C2-D049-845DCDF1169D}"/>
              </a:ext>
            </a:extLst>
          </p:cNvPr>
          <p:cNvSpPr txBox="1">
            <a:spLocks/>
          </p:cNvSpPr>
          <p:nvPr/>
        </p:nvSpPr>
        <p:spPr>
          <a:xfrm>
            <a:off x="734353" y="1012357"/>
            <a:ext cx="10100795" cy="5130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ctr" anchorCtr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Root Cause Analysis: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Identify underlying causes of recurring issues to prevent future tickets and improve system reliability.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Response Time Optimization: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Analyze first-response times and follow-up patterns to streamline communication and reduce ticket resolution delays.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Resource Utilization Analysis: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Evaluate workload distribution among IT agents to detect overburdened staff and optimize staffing allocation.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Predictive Analysis: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Use historical ticket trends to forecast future ticket volumes, anticipate resource needs, and proactively address potential bottlenecks</a:t>
            </a: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Visualization: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Created dynamic charts and dashboards for data representation, enabling interactive exploration and insights-driven decision-making</a:t>
            </a: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Process Improvement Analysis: 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Identified recurring issues, delays, and bottlenecks using conditional formatting and calculated metrics.</a:t>
            </a:r>
          </a:p>
          <a:p>
            <a:pPr marL="0" indent="0">
              <a:spcBef>
                <a:spcPts val="0"/>
              </a:spcBef>
              <a:buClr>
                <a:srgbClr val="343029"/>
              </a:buClr>
              <a:buSzPts val="2400"/>
              <a:buFont typeface="Arial" panose="020B0604020202020204" pitchFamily="34" charset="0"/>
              <a:buNone/>
            </a:pP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-101605">
              <a:spcBef>
                <a:spcPts val="0"/>
              </a:spcBef>
              <a:buClr>
                <a:srgbClr val="343029"/>
              </a:buClr>
              <a:buSzPts val="2400"/>
            </a:pP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Google Shape;190;p8">
            <a:extLst>
              <a:ext uri="{FF2B5EF4-FFF2-40B4-BE49-F238E27FC236}">
                <a16:creationId xmlns:a16="http://schemas.microsoft.com/office/drawing/2014/main" id="{23E921B2-2828-EBBB-61EE-B1CB64F09C8D}"/>
              </a:ext>
            </a:extLst>
          </p:cNvPr>
          <p:cNvSpPr txBox="1">
            <a:spLocks/>
          </p:cNvSpPr>
          <p:nvPr/>
        </p:nvSpPr>
        <p:spPr>
          <a:xfrm>
            <a:off x="734353" y="169266"/>
            <a:ext cx="8460720" cy="75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SzPct val="111111"/>
            </a:pPr>
            <a:r>
              <a:rPr lang="en-IN" sz="400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Analytical Approach &amp;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IN" sz="4000" dirty="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tools</a:t>
            </a:r>
            <a:endParaRPr lang="en-IN" sz="5400" dirty="0">
              <a:solidFill>
                <a:schemeClr val="tx2">
                  <a:lumMod val="75000"/>
                </a:schemeClr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355270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40434A43-F042-CE0C-9F41-3E1C29B33B7F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CD56CD3F-AB66-26F0-AA9F-29C1F3884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657B9087-B905-07F3-C8C3-EAD62B0E7F64}"/>
              </a:ext>
            </a:extLst>
          </p:cNvPr>
          <p:cNvSpPr txBox="1">
            <a:spLocks/>
          </p:cNvSpPr>
          <p:nvPr/>
        </p:nvSpPr>
        <p:spPr>
          <a:xfrm>
            <a:off x="896113" y="191048"/>
            <a:ext cx="5642338" cy="78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40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dirty="0"/>
              <a:t>Ticket Volume Trends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6C0EEA5-11CD-9C8A-7461-FE6A5B5329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0121519"/>
              </p:ext>
            </p:extLst>
          </p:nvPr>
        </p:nvGraphicFramePr>
        <p:xfrm>
          <a:off x="2984683" y="815736"/>
          <a:ext cx="6222633" cy="3185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Google Shape;176;p7">
            <a:extLst>
              <a:ext uri="{FF2B5EF4-FFF2-40B4-BE49-F238E27FC236}">
                <a16:creationId xmlns:a16="http://schemas.microsoft.com/office/drawing/2014/main" id="{ECEAA548-CAEE-C01B-0E24-BE65B97A5D6D}"/>
              </a:ext>
            </a:extLst>
          </p:cNvPr>
          <p:cNvSpPr txBox="1"/>
          <p:nvPr/>
        </p:nvSpPr>
        <p:spPr>
          <a:xfrm>
            <a:off x="896113" y="4522476"/>
            <a:ext cx="10579407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IN" sz="24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  <a:sym typeface="Red Hat Display"/>
              </a:rPr>
              <a:t>Insights:</a:t>
            </a:r>
            <a:endParaRPr lang="en-IN" sz="20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  <a:sym typeface="Red Hat Display"/>
            </a:endParaRPr>
          </a:p>
          <a:p>
            <a:pPr marL="342900" indent="-342900" defTabSz="60963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The total support tickets rose from 13,051 in 2016 to 29,088 in 2020.</a:t>
            </a:r>
          </a:p>
          <a:p>
            <a:pPr marL="342900" lvl="1" indent="-342900" defTabSz="60963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</a:rPr>
              <a:t>This means the number of tickets increased by almost 123% over five years</a:t>
            </a:r>
          </a:p>
          <a:p>
            <a:pPr defTabSz="609630">
              <a:buClr>
                <a:srgbClr val="000000"/>
              </a:buClr>
            </a:pPr>
            <a:endParaRPr sz="20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88540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F8071665-8F9E-9757-247F-9456540534DE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F32F21FF-1397-76EE-A2BA-D732C3CC4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D3F302C8-E3C9-A382-BE3D-203B2E201C56}"/>
              </a:ext>
            </a:extLst>
          </p:cNvPr>
          <p:cNvSpPr txBox="1">
            <a:spLocks/>
          </p:cNvSpPr>
          <p:nvPr/>
        </p:nvSpPr>
        <p:spPr>
          <a:xfrm>
            <a:off x="804781" y="225178"/>
            <a:ext cx="5704174" cy="78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40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3600" dirty="0"/>
              <a:t>Satisfaction rate by Time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C774354-0210-5A97-DFD8-BFC8C2D5CE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0082235"/>
              </p:ext>
            </p:extLst>
          </p:nvPr>
        </p:nvGraphicFramePr>
        <p:xfrm>
          <a:off x="2949819" y="1012635"/>
          <a:ext cx="6800851" cy="3343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8EF902-D413-99A5-A9E8-EFFA62FC034F}"/>
              </a:ext>
            </a:extLst>
          </p:cNvPr>
          <p:cNvSpPr txBox="1"/>
          <p:nvPr/>
        </p:nvSpPr>
        <p:spPr>
          <a:xfrm>
            <a:off x="734353" y="4355690"/>
            <a:ext cx="10523582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buClr>
                <a:srgbClr val="000000"/>
              </a:buClr>
              <a:defRPr sz="2400" kern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defRPr>
            </a:lvl1pPr>
          </a:lstStyle>
          <a:p>
            <a:r>
              <a:rPr lang="en-US" dirty="0">
                <a:sym typeface="Red Hat Display"/>
              </a:rPr>
              <a:t>Insights:-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Employee satisfaction has a strong inverse relationship with resolution time. The sharpest decline occurs after the initial point, making immediate resolution essential for a positive experience.</a:t>
            </a:r>
            <a:endParaRPr lang="en-US" sz="2000" dirty="0">
              <a:sym typeface="Red Hat Display"/>
            </a:endParaRP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/>
              <a:t>Quick resolution times strongly boost employee satisfaction.</a:t>
            </a:r>
          </a:p>
          <a:p>
            <a:pPr marL="342900" lvl="0" indent="-34290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000" dirty="0"/>
              <a:t>Maximum satisfaction (103,016) happens when tickets are resolved within one day</a:t>
            </a:r>
            <a:endParaRPr lang="en-US" sz="2000" dirty="0">
              <a:sym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869253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A5E3326B-DFD8-75EF-7EE3-6BE2D900DB27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0DD1E7D8-41B8-540F-B79C-3A2703AB9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B6C067E-76FE-B744-5AEB-8D950872DC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7382015"/>
              </p:ext>
            </p:extLst>
          </p:nvPr>
        </p:nvGraphicFramePr>
        <p:xfrm>
          <a:off x="3765023" y="894648"/>
          <a:ext cx="6126587" cy="3529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itle 6">
            <a:extLst>
              <a:ext uri="{FF2B5EF4-FFF2-40B4-BE49-F238E27FC236}">
                <a16:creationId xmlns:a16="http://schemas.microsoft.com/office/drawing/2014/main" id="{3AE60FF6-0210-FEE9-70FD-DFCAB27DCF08}"/>
              </a:ext>
            </a:extLst>
          </p:cNvPr>
          <p:cNvSpPr txBox="1">
            <a:spLocks/>
          </p:cNvSpPr>
          <p:nvPr/>
        </p:nvSpPr>
        <p:spPr>
          <a:xfrm>
            <a:off x="804781" y="225178"/>
            <a:ext cx="5704174" cy="78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40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3600" dirty="0"/>
              <a:t>Ticket By Priority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331BD2-F2AE-32F0-CEB5-0471C92B4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781" y="4447655"/>
            <a:ext cx="11092624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altLang="en-US" sz="24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Insights:-</a:t>
            </a:r>
          </a:p>
          <a:p>
            <a:pPr marL="342900" lvl="0" indent="-342900" defTabSz="60963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</a:rPr>
              <a:t>91% of tickets are labeled Normal priority, showing poor prioritization and software issues.</a:t>
            </a:r>
          </a:p>
          <a:p>
            <a:pPr marL="342900" lvl="0" indent="-342900" defTabSz="60963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</a:rPr>
              <a:t>26,826 tickets are unassigned, indicating major workflow and management problems.</a:t>
            </a:r>
          </a:p>
          <a:p>
            <a:pPr defTabSz="609630">
              <a:buClr>
                <a:srgbClr val="000000"/>
              </a:buClr>
            </a:pPr>
            <a:endParaRPr lang="en-US" altLang="en-US" sz="20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463040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3316D77C-4968-8EE2-3032-9A618C68CE01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74E087F4-2C02-9734-6FFD-1788BFFC5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B5467AE-37E8-2A6D-B9FD-48A49A68DC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3417424"/>
              </p:ext>
            </p:extLst>
          </p:nvPr>
        </p:nvGraphicFramePr>
        <p:xfrm>
          <a:off x="2895600" y="1149296"/>
          <a:ext cx="6400800" cy="3092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8C49B48-763D-793F-E58A-1963971AF44D}"/>
              </a:ext>
            </a:extLst>
          </p:cNvPr>
          <p:cNvSpPr txBox="1"/>
          <p:nvPr/>
        </p:nvSpPr>
        <p:spPr>
          <a:xfrm>
            <a:off x="806244" y="267590"/>
            <a:ext cx="11159614" cy="743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36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3200" dirty="0"/>
              <a:t>Average Resolution Time by Request Category, Quarter-wise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ACD7B09-BBB1-0A3D-A8ED-EB1816B5B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44" y="4581857"/>
            <a:ext cx="10982633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altLang="en-US" sz="24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Insights:-</a:t>
            </a:r>
          </a:p>
          <a:p>
            <a:pPr marL="342900" indent="-342900" defTabSz="609630">
              <a:lnSpc>
                <a:spcPct val="15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</a:rPr>
              <a:t>Recommend reviewing workflows and adding technical support to speed up resolutions.</a:t>
            </a:r>
          </a:p>
          <a:p>
            <a:pPr marL="342900" lvl="0" indent="-342900" defTabSz="60963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</a:rPr>
              <a:t>System, hardware, and software tickets take the longest to resolve, causing delays.</a:t>
            </a:r>
          </a:p>
          <a:p>
            <a:pPr defTabSz="609630">
              <a:buClr>
                <a:srgbClr val="000000"/>
              </a:buClr>
            </a:pPr>
            <a:endParaRPr lang="en-US" altLang="en-US" sz="20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31869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31BD2290-BB3F-C0BE-F454-7B6EA4FC0C4F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6812779A-A195-7A92-8C80-85A78777B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021EFBE-D378-FEBA-6361-08B686F857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8809477"/>
              </p:ext>
            </p:extLst>
          </p:nvPr>
        </p:nvGraphicFramePr>
        <p:xfrm>
          <a:off x="3121354" y="1037050"/>
          <a:ext cx="6933817" cy="3234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F1BED9-5DE5-B02D-2ABF-D368531C872A}"/>
              </a:ext>
            </a:extLst>
          </p:cNvPr>
          <p:cNvSpPr txBox="1"/>
          <p:nvPr/>
        </p:nvSpPr>
        <p:spPr>
          <a:xfrm>
            <a:off x="734353" y="234358"/>
            <a:ext cx="8104847" cy="733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36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dirty="0"/>
              <a:t> Age Group by Satisfaction Rate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4A10959-1724-CBCC-3305-2B7B229F4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53" y="4271830"/>
            <a:ext cx="11107860" cy="160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altLang="en-US" sz="24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Insights:-</a:t>
            </a: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The age group 53–55 has the highest satisfaction rate at 4.41, indicating they likely have the most efficient resolution times.</a:t>
            </a: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The age group 35–37 has the lowest satisfaction rate at 3.64, suggesting room for improvement in their resolution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3404382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all center with solid fill">
            <a:extLst>
              <a:ext uri="{FF2B5EF4-FFF2-40B4-BE49-F238E27FC236}">
                <a16:creationId xmlns:a16="http://schemas.microsoft.com/office/drawing/2014/main" id="{EB235CE2-0F2C-8D7B-7317-15907EDB8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2F156F97-59AA-7B42-AF39-06B10284AEAF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1179F8A-E9B0-2AA5-AC75-4E697EB339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5822356"/>
              </p:ext>
            </p:extLst>
          </p:nvPr>
        </p:nvGraphicFramePr>
        <p:xfrm>
          <a:off x="3389063" y="1120329"/>
          <a:ext cx="6066209" cy="29027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79B790B-1F4C-1433-FD01-BED2A001C61C}"/>
              </a:ext>
            </a:extLst>
          </p:cNvPr>
          <p:cNvSpPr txBox="1"/>
          <p:nvPr/>
        </p:nvSpPr>
        <p:spPr>
          <a:xfrm>
            <a:off x="734353" y="276429"/>
            <a:ext cx="5309420" cy="644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36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US" dirty="0"/>
              <a:t>Ticket by Severity Rate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40F6F12-4934-A7F8-759D-56745DBDC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53" y="4128578"/>
            <a:ext cx="11523406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altLang="en-US" sz="24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Insights:-</a:t>
            </a:r>
            <a:endParaRPr lang="en-US" altLang="en-US" sz="20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</a:endParaRP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A significant majority of tickets (88,656) fall under Normal severity, indicating routine support load</a:t>
            </a: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However, with 6,000+ Major and Urgent tickets, there is a critical need to prioritize high-impact issues effectively.</a:t>
            </a:r>
          </a:p>
          <a:p>
            <a:pPr marL="342900" lvl="0" indent="-342900" defTabSz="60963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</a:rPr>
              <a:t>Over 6,000 Major and Urgent tickets highlight the need for better issue prioritization.</a:t>
            </a:r>
          </a:p>
          <a:p>
            <a:pPr defTabSz="609630">
              <a:buClr>
                <a:srgbClr val="000000"/>
              </a:buClr>
            </a:pPr>
            <a:endParaRPr lang="en-US" altLang="en-US" sz="20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67419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all center with solid fill">
            <a:extLst>
              <a:ext uri="{FF2B5EF4-FFF2-40B4-BE49-F238E27FC236}">
                <a16:creationId xmlns:a16="http://schemas.microsoft.com/office/drawing/2014/main" id="{F4E985B3-2651-3720-7F5C-0549C1AD02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874DE896-C175-0E88-5139-2F768D78552C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AEA8B31-6591-D6B2-B76E-C50F4DE236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681269"/>
              </p:ext>
            </p:extLst>
          </p:nvPr>
        </p:nvGraphicFramePr>
        <p:xfrm>
          <a:off x="3521995" y="954305"/>
          <a:ext cx="5838313" cy="3353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D0A44E-B71A-0F94-C573-2C6C03C19595}"/>
              </a:ext>
            </a:extLst>
          </p:cNvPr>
          <p:cNvSpPr txBox="1"/>
          <p:nvPr/>
        </p:nvSpPr>
        <p:spPr>
          <a:xfrm>
            <a:off x="734352" y="307835"/>
            <a:ext cx="9471531" cy="50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36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US" dirty="0"/>
              <a:t>Distribution of Tickets Based on Satisfaction Score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6E7A0AB-5F45-6040-4523-8266D7DD5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52" y="4307447"/>
            <a:ext cx="11356721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altLang="en-US" sz="24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Insights:-</a:t>
            </a: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A large majority of tickets received high satisfaction scores, with 50,770 tickets rated 5 and 27,562 rated 4, indicating strong overall customer satisfaction.</a:t>
            </a: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However, over 17,000 tickets received low scores (1–2), highlighting areas where support quality or resolution experience can be improved.</a:t>
            </a:r>
          </a:p>
          <a:p>
            <a:pPr defTabSz="609630">
              <a:buClr>
                <a:srgbClr val="000000"/>
              </a:buClr>
            </a:pPr>
            <a:endParaRPr lang="en-US" altLang="en-US" sz="24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53944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5;p8">
            <a:extLst>
              <a:ext uri="{FF2B5EF4-FFF2-40B4-BE49-F238E27FC236}">
                <a16:creationId xmlns:a16="http://schemas.microsoft.com/office/drawing/2014/main" id="{342BC6FD-FE85-C9B3-16AC-406E2B2AD63C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3" name="Graphic 2" descr="Call center with solid fill">
            <a:extLst>
              <a:ext uri="{FF2B5EF4-FFF2-40B4-BE49-F238E27FC236}">
                <a16:creationId xmlns:a16="http://schemas.microsoft.com/office/drawing/2014/main" id="{5A20F6CF-A5FD-9B8A-89BF-4613124AC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196F31D-3793-10AA-4711-26B1BBBEFA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6365883"/>
              </p:ext>
            </p:extLst>
          </p:nvPr>
        </p:nvGraphicFramePr>
        <p:xfrm>
          <a:off x="3274142" y="1140201"/>
          <a:ext cx="6410632" cy="31906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itle 6">
            <a:extLst>
              <a:ext uri="{FF2B5EF4-FFF2-40B4-BE49-F238E27FC236}">
                <a16:creationId xmlns:a16="http://schemas.microsoft.com/office/drawing/2014/main" id="{5CDA1A92-2341-25E8-BF1C-612630091D9D}"/>
              </a:ext>
            </a:extLst>
          </p:cNvPr>
          <p:cNvSpPr txBox="1">
            <a:spLocks/>
          </p:cNvSpPr>
          <p:nvPr/>
        </p:nvSpPr>
        <p:spPr>
          <a:xfrm>
            <a:off x="814612" y="171384"/>
            <a:ext cx="10020535" cy="787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40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3600" dirty="0"/>
              <a:t>Distribution of Tickets Based on Resolution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B1AD48-4E84-59AE-2AAC-10E2B63FF4C4}"/>
              </a:ext>
            </a:extLst>
          </p:cNvPr>
          <p:cNvSpPr txBox="1"/>
          <p:nvPr/>
        </p:nvSpPr>
        <p:spPr>
          <a:xfrm>
            <a:off x="814612" y="4464369"/>
            <a:ext cx="11377388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buClr>
                <a:srgbClr val="000000"/>
              </a:buClr>
              <a:defRPr sz="2000" kern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defRPr>
            </a:lvl1pPr>
          </a:lstStyle>
          <a:p>
            <a:r>
              <a:rPr lang="en-US" sz="2400" dirty="0"/>
              <a:t>Insights:-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Most tickets are resolved within a day, showing strong efficiency in handling quick issues.</a:t>
            </a:r>
            <a:br>
              <a:rPr lang="en-US" dirty="0"/>
            </a:br>
            <a:r>
              <a:rPr lang="en-US" dirty="0"/>
              <a:t>However, as resolution time increases, the number of closed tickets drops sharply, indicating delays with more complex cases.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Resolution rates decline as time increases, pointing to struggles with complex problems.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122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all center with solid fill">
            <a:extLst>
              <a:ext uri="{FF2B5EF4-FFF2-40B4-BE49-F238E27FC236}">
                <a16:creationId xmlns:a16="http://schemas.microsoft.com/office/drawing/2014/main" id="{86792313-4D5C-65EC-9DDA-B6B20D1F8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07D4F36C-2296-CC33-35A4-D5BC671EDC81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175BF-7BDF-C31D-AD32-51B3025F7FB6}"/>
              </a:ext>
            </a:extLst>
          </p:cNvPr>
          <p:cNvSpPr txBox="1"/>
          <p:nvPr/>
        </p:nvSpPr>
        <p:spPr>
          <a:xfrm>
            <a:off x="734353" y="245900"/>
            <a:ext cx="9173497" cy="74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36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US" dirty="0"/>
              <a:t>Distribution of tickets based on Resolution time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A67D46A-795B-BC2C-9918-6B7D925DC1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0107390"/>
              </p:ext>
            </p:extLst>
          </p:nvPr>
        </p:nvGraphicFramePr>
        <p:xfrm>
          <a:off x="3303639" y="1396181"/>
          <a:ext cx="6194322" cy="3087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67F58656-A8FF-1ED4-E453-CB8D8E12B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84" y="4483510"/>
            <a:ext cx="10842172" cy="190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2400" dirty="0"/>
              <a:t>Insights:-</a:t>
            </a:r>
            <a:endParaRPr lang="en-US" altLang="en-US" sz="24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</a:endParaRP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System issues have the highest count with 39,002 tickets, showing it’s the most common problem area.</a:t>
            </a:r>
          </a:p>
          <a:p>
            <a:pPr marL="342900" indent="-342900" defTabSz="60963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000" kern="0" dirty="0">
                <a:solidFill>
                  <a:schemeClr val="tx2">
                    <a:lumMod val="75000"/>
                  </a:schemeClr>
                </a:solidFill>
                <a:latin typeface="Red Hat Display SemiBold"/>
                <a:ea typeface="Red Hat Display SemiBold"/>
                <a:cs typeface="Red Hat Display SemiBold"/>
              </a:rPr>
              <a:t>Hardware issues have the lowest count with only 9,733 tickets, while Login Access (29,193) and Software (19,570) fall in between.</a:t>
            </a:r>
          </a:p>
          <a:p>
            <a:pPr defTabSz="609630">
              <a:buClr>
                <a:srgbClr val="000000"/>
              </a:buClr>
            </a:pPr>
            <a:endParaRPr lang="en-US" altLang="en-US" sz="2000" kern="0" dirty="0">
              <a:solidFill>
                <a:schemeClr val="tx2">
                  <a:lumMod val="75000"/>
                </a:schemeClr>
              </a:solidFill>
              <a:latin typeface="Red Hat Display SemiBold"/>
              <a:ea typeface="Red Hat Display SemiBold"/>
              <a:cs typeface="Red Hat Display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77365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all center with solid fill">
            <a:extLst>
              <a:ext uri="{FF2B5EF4-FFF2-40B4-BE49-F238E27FC236}">
                <a16:creationId xmlns:a16="http://schemas.microsoft.com/office/drawing/2014/main" id="{1FA45493-0E6E-E2D0-9F49-CC65818D5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0BF0012C-A090-0E50-8CDF-6E879FFD8FB6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1D8C2-9D4D-CB81-F691-D56ACB0AF9C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577"/>
          <a:stretch>
            <a:fillRect/>
          </a:stretch>
        </p:blipFill>
        <p:spPr bwMode="auto">
          <a:xfrm>
            <a:off x="820992" y="797669"/>
            <a:ext cx="10869563" cy="517210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Google Shape;395;p14">
            <a:extLst>
              <a:ext uri="{FF2B5EF4-FFF2-40B4-BE49-F238E27FC236}">
                <a16:creationId xmlns:a16="http://schemas.microsoft.com/office/drawing/2014/main" id="{DA47FF50-10D9-58AD-EDEC-BFBF98D2CD40}"/>
              </a:ext>
            </a:extLst>
          </p:cNvPr>
          <p:cNvSpPr txBox="1">
            <a:spLocks/>
          </p:cNvSpPr>
          <p:nvPr/>
        </p:nvSpPr>
        <p:spPr>
          <a:xfrm>
            <a:off x="734353" y="187333"/>
            <a:ext cx="6600985" cy="610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ct val="0"/>
              </a:spcBef>
              <a:buSzPct val="111111"/>
              <a:buNone/>
              <a:defRPr sz="3600">
                <a:solidFill>
                  <a:schemeClr val="tx2">
                    <a:lumMod val="75000"/>
                  </a:schemeClr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dirty="0"/>
              <a:t>Dashboard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1114764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all center with solid fill">
            <a:extLst>
              <a:ext uri="{FF2B5EF4-FFF2-40B4-BE49-F238E27FC236}">
                <a16:creationId xmlns:a16="http://schemas.microsoft.com/office/drawing/2014/main" id="{0FA08095-A423-A08B-9010-407FE3EC4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8D678023-68BF-4BA2-1033-D84B2095F0E7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sp>
        <p:nvSpPr>
          <p:cNvPr id="4" name="Google Shape;402;p15">
            <a:extLst>
              <a:ext uri="{FF2B5EF4-FFF2-40B4-BE49-F238E27FC236}">
                <a16:creationId xmlns:a16="http://schemas.microsoft.com/office/drawing/2014/main" id="{72C1A169-9FC0-F824-04D8-DECED2059A2D}"/>
              </a:ext>
            </a:extLst>
          </p:cNvPr>
          <p:cNvSpPr txBox="1">
            <a:spLocks/>
          </p:cNvSpPr>
          <p:nvPr/>
        </p:nvSpPr>
        <p:spPr>
          <a:xfrm>
            <a:off x="2317347" y="492501"/>
            <a:ext cx="6630008" cy="103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52408">
              <a:buSzPct val="97222"/>
            </a:pPr>
            <a:r>
              <a:rPr lang="en-IN" sz="5334" dirty="0">
                <a:solidFill>
                  <a:srgbClr val="343029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Recommendations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592A1-FD56-8752-F4F8-4C9519E95C6B}"/>
              </a:ext>
            </a:extLst>
          </p:cNvPr>
          <p:cNvSpPr txBox="1"/>
          <p:nvPr/>
        </p:nvSpPr>
        <p:spPr>
          <a:xfrm>
            <a:off x="875072" y="1579205"/>
            <a:ext cx="11149780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buClr>
                <a:srgbClr val="000000"/>
              </a:buClr>
              <a:defRPr sz="2400"/>
            </a:lvl1pPr>
          </a:lstStyle>
          <a:p>
            <a:r>
              <a:rPr lang="en-US" b="1" dirty="0"/>
              <a:t>Focus on faster resolutions to boost satisfaction</a:t>
            </a:r>
            <a:r>
              <a:rPr lang="en-US" dirty="0"/>
              <a:t>—especially for tickets closed within 24 hours.</a:t>
            </a:r>
          </a:p>
          <a:p>
            <a:endParaRPr lang="en-US" dirty="0"/>
          </a:p>
          <a:p>
            <a:r>
              <a:rPr lang="en-US" b="1" dirty="0"/>
              <a:t>Refine priority </a:t>
            </a:r>
            <a:r>
              <a:rPr lang="en-US" dirty="0"/>
              <a:t>handling to ensure critical issues get addressed without delay.</a:t>
            </a:r>
          </a:p>
          <a:p>
            <a:endParaRPr lang="en-US" dirty="0"/>
          </a:p>
          <a:p>
            <a:r>
              <a:rPr lang="en-US" b="1" dirty="0"/>
              <a:t>Provide targeted training </a:t>
            </a:r>
            <a:r>
              <a:rPr lang="en-US" dirty="0"/>
              <a:t>to improve performance among lower-satisfaction age groups.</a:t>
            </a:r>
          </a:p>
          <a:p>
            <a:endParaRPr lang="en-US" dirty="0"/>
          </a:p>
          <a:p>
            <a:r>
              <a:rPr lang="en-US" b="1" dirty="0"/>
              <a:t>Allocate skilled resources </a:t>
            </a:r>
            <a:r>
              <a:rPr lang="en-US" dirty="0"/>
              <a:t>to handle complex hardware and software tickets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551891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all center with solid fill">
            <a:extLst>
              <a:ext uri="{FF2B5EF4-FFF2-40B4-BE49-F238E27FC236}">
                <a16:creationId xmlns:a16="http://schemas.microsoft.com/office/drawing/2014/main" id="{06499947-494B-FBA4-F71F-D6CA8CEEE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3" y="169266"/>
            <a:ext cx="646470" cy="646470"/>
          </a:xfrm>
          <a:prstGeom prst="rect">
            <a:avLst/>
          </a:prstGeom>
        </p:spPr>
      </p:pic>
      <p:sp>
        <p:nvSpPr>
          <p:cNvPr id="3" name="Google Shape;185;p8">
            <a:extLst>
              <a:ext uri="{FF2B5EF4-FFF2-40B4-BE49-F238E27FC236}">
                <a16:creationId xmlns:a16="http://schemas.microsoft.com/office/drawing/2014/main" id="{1B04F0E3-2431-7287-C35A-D7DE16DE2017}"/>
              </a:ext>
            </a:extLst>
          </p:cNvPr>
          <p:cNvSpPr/>
          <p:nvPr/>
        </p:nvSpPr>
        <p:spPr>
          <a:xfrm>
            <a:off x="0" y="6125497"/>
            <a:ext cx="12192000" cy="113596"/>
          </a:xfrm>
          <a:custGeom>
            <a:avLst/>
            <a:gdLst/>
            <a:ahLst/>
            <a:cxnLst/>
            <a:rect l="l" t="t" r="r" b="b"/>
            <a:pathLst>
              <a:path w="13356709" h="233742" extrusionOk="0">
                <a:moveTo>
                  <a:pt x="0" y="0"/>
                </a:moveTo>
                <a:lnTo>
                  <a:pt x="13356709" y="0"/>
                </a:lnTo>
                <a:lnTo>
                  <a:pt x="13356709" y="233742"/>
                </a:lnTo>
                <a:lnTo>
                  <a:pt x="0" y="233742"/>
                </a:lnTo>
                <a:lnTo>
                  <a:pt x="0" y="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sp>
        <p:nvSpPr>
          <p:cNvPr id="4" name="Google Shape;413;p16">
            <a:extLst>
              <a:ext uri="{FF2B5EF4-FFF2-40B4-BE49-F238E27FC236}">
                <a16:creationId xmlns:a16="http://schemas.microsoft.com/office/drawing/2014/main" id="{59FE5C32-7D90-DD79-757B-097D305EF6F5}"/>
              </a:ext>
            </a:extLst>
          </p:cNvPr>
          <p:cNvSpPr txBox="1">
            <a:spLocks/>
          </p:cNvSpPr>
          <p:nvPr/>
        </p:nvSpPr>
        <p:spPr>
          <a:xfrm>
            <a:off x="3677264" y="414731"/>
            <a:ext cx="3951960" cy="85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rmAutofit fontScale="92500"/>
          </a:bodyPr>
          <a:lstStyle>
            <a:defPPr>
              <a:defRPr lang="en-US"/>
            </a:defPPr>
            <a:lvl1pPr marL="152408">
              <a:lnSpc>
                <a:spcPct val="90000"/>
              </a:lnSpc>
              <a:spcBef>
                <a:spcPct val="0"/>
              </a:spcBef>
              <a:buSzPct val="97222"/>
              <a:buNone/>
              <a:defRPr sz="5334">
                <a:solidFill>
                  <a:srgbClr val="343029"/>
                </a:solidFill>
                <a:latin typeface="Red Hat Display"/>
                <a:ea typeface="Red Hat Display"/>
                <a:cs typeface="Red Hat Display"/>
              </a:defRPr>
            </a:lvl1pPr>
          </a:lstStyle>
          <a:p>
            <a:r>
              <a:rPr lang="en-IN" sz="5400" dirty="0"/>
              <a:t>     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4570C-5A46-D6BA-7D9B-1F9F5B3A8EBD}"/>
              </a:ext>
            </a:extLst>
          </p:cNvPr>
          <p:cNvSpPr txBox="1"/>
          <p:nvPr/>
        </p:nvSpPr>
        <p:spPr>
          <a:xfrm>
            <a:off x="734353" y="1268020"/>
            <a:ext cx="10602241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defTabSz="609630">
              <a:buClr>
                <a:srgbClr val="000000"/>
              </a:buClr>
              <a:defRPr sz="2400" b="1"/>
            </a:lvl1pPr>
          </a:lstStyle>
          <a:p>
            <a:r>
              <a:rPr lang="en-US" dirty="0">
                <a:sym typeface="Red Hat Display"/>
              </a:rPr>
              <a:t>Identified High &amp; Low Performers: </a:t>
            </a:r>
            <a:r>
              <a:rPr lang="en-US" b="0" dirty="0">
                <a:sym typeface="Red Hat Display"/>
              </a:rPr>
              <a:t>Analysis highlights top-performing IT agents and those needing improvement.</a:t>
            </a:r>
          </a:p>
          <a:p>
            <a:endParaRPr lang="en-US" dirty="0">
              <a:sym typeface="Red Hat Display"/>
            </a:endParaRPr>
          </a:p>
          <a:p>
            <a:r>
              <a:rPr lang="en-US" dirty="0">
                <a:sym typeface="Red Hat Display"/>
              </a:rPr>
              <a:t>Improved Efficiency Insights: </a:t>
            </a:r>
            <a:r>
              <a:rPr lang="en-US" b="0" dirty="0">
                <a:sym typeface="Red Hat Display"/>
              </a:rPr>
              <a:t>Key patterns in ticket resolution times were uncovered</a:t>
            </a:r>
          </a:p>
          <a:p>
            <a:endParaRPr lang="en-US" sz="1800" b="0" dirty="0">
              <a:sym typeface="Red Hat Display"/>
            </a:endParaRPr>
          </a:p>
          <a:p>
            <a:r>
              <a:rPr lang="en-US" sz="2400" dirty="0">
                <a:sym typeface="Red Hat Display"/>
              </a:rPr>
              <a:t>Employee Satisfaction Correlation: </a:t>
            </a:r>
            <a:r>
              <a:rPr lang="en-US" sz="2400" b="0" dirty="0">
                <a:sym typeface="Red Hat Display"/>
              </a:rPr>
              <a:t>Satisfaction levels are directly influenced by response speed and resolution quality.</a:t>
            </a:r>
          </a:p>
          <a:p>
            <a:endParaRPr lang="en-US" sz="2400" dirty="0">
              <a:sym typeface="Arial"/>
            </a:endParaRPr>
          </a:p>
          <a:p>
            <a:r>
              <a:rPr lang="en-US" dirty="0">
                <a:sym typeface="Arial"/>
              </a:rPr>
              <a:t>Ticket Volume Distribution: </a:t>
            </a:r>
            <a:r>
              <a:rPr lang="en-US" b="0" dirty="0">
                <a:sym typeface="Arial"/>
              </a:rPr>
              <a:t>Analysis reveals which request types and employee age groups generate the highest ticket load </a:t>
            </a:r>
          </a:p>
          <a:p>
            <a:endParaRPr lang="en-US" b="0" dirty="0">
              <a:sym typeface="Arial"/>
            </a:endParaRPr>
          </a:p>
          <a:p>
            <a:r>
              <a:rPr lang="en-US" dirty="0">
                <a:sym typeface="Arial"/>
              </a:rPr>
              <a:t> Actionable Recommendations: </a:t>
            </a:r>
            <a:r>
              <a:rPr lang="en-US" b="0" dirty="0">
                <a:sym typeface="Arial"/>
              </a:rPr>
              <a:t>Insights guide targeted training, mentorship, and process improvements to boost overall team performance.</a:t>
            </a:r>
          </a:p>
          <a:p>
            <a:r>
              <a:rPr lang="en-US" dirty="0"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072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1217</Words>
  <Application>Microsoft Office PowerPoint</Application>
  <PresentationFormat>Widescreen</PresentationFormat>
  <Paragraphs>138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Adobe Fan Heiti Std B</vt:lpstr>
      <vt:lpstr>Adobe Gothic Std B</vt:lpstr>
      <vt:lpstr>Arial</vt:lpstr>
      <vt:lpstr>Calibri</vt:lpstr>
      <vt:lpstr>Calibri Light</vt:lpstr>
      <vt:lpstr>Red Hat Display</vt:lpstr>
      <vt:lpstr>Red Hat Display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yash</dc:creator>
  <cp:lastModifiedBy>yash yash</cp:lastModifiedBy>
  <cp:revision>3</cp:revision>
  <dcterms:created xsi:type="dcterms:W3CDTF">2025-10-11T19:01:51Z</dcterms:created>
  <dcterms:modified xsi:type="dcterms:W3CDTF">2025-10-12T09:00:26Z</dcterms:modified>
</cp:coreProperties>
</file>